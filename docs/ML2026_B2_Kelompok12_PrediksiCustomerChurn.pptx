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Perkenalkan seluruh anggota. Judul project, Kelompok 12 Kelas B2. Buka aplikasi live pada bagian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Latar belakang &amp; rumusan masalah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Tujuan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Studi literatur — metode &amp; evaluasi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Studi literatur — early warning &amp; pengembangan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Dataset &amp; target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Pemeriksaan kualitas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Kelas tidak churn dominan (sekitar 73,4%) dan churn sekitar 26,6% pada cohort bersih. Accuracy saja dapat menutupi kegagalan mendeteksi kelas churn; gunakan precision, recall, dan F1.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Tenure mencakup pelanggan baru hingga 72 bulan; tagihan memiliki beberapa kelompok sesuai paket layanan. TotalCharges berhubungan dengan durasi berlangganan. Bentuk histogram tidak mengharuskan normalisasi agar normal; StandardScaler digunakan untuk skala numerik Logistic Regression.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Median tenure pelanggan churn pada train adalah 10 bulan, dibanding 38 bulan pada tidak churn. Median tagihan churn $79.90 vs $64.68. Ini hubungan deskriptif, bukan bukti bahwa menaikkan tagihan atau mengganti kontrak menyebabkan churn. Titik outlier boxplot dihitung per kelas; berbeda dari pemeriksaan IQR seluruh cohort pada tabel kualitas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Pada train, churn rate kontrak bulanan 43.1%, sedangkan kontrak dua tahun 2.9%. Pelanggan fiber/electronic check juga memiliki profil churn berbeda. Asosiasi ini mendukung pemilihan fitur, bukan jaminan efektivitas saran retensi.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EDA — korelasi &amp; pilihan fitur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Preprocessing &amp; pencegahan leakage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Tiga algoritma &amp; alasan pemilihan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Training, validation &amp; parameter terbaik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Evaluasi &amp; perbandingan model inti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Analisis model &amp; overfitting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Kalibrasi &amp; pemilihan threshold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Evaluasi konfigurasi aplikasi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Confusion matrix &amp; kesalahan prediksi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ROC &amp; kualitas probabilitas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Interpretasi fitur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Arsitektur &amp; implementasi aplikasi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Gunakan template_pelanggan.csv. Klik Prediksi untuk contoh pelanggan, upload batch, unduh hasil, lalu upload CSV salah untuk menunjukkan validasi. Lihat docs/NASKAH_VIDEO_DEMO.md.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Kesimpulan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Keterbatasan &amp; pengembangan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Pembagian tugas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Referensi jurnal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code &amp; berkas pengumpulan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E9EDF5"/>
                </a:solidFill>
                <a:latin typeface="Aptos"/>
              </a:defRPr>
            </a:pPr>
            <a:r>
              <a:t>Prediksi Customer Churn — Telco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106424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AB4C8"/>
                </a:solidFill>
                <a:latin typeface="Aptos"/>
              </a:defRPr>
            </a:pPr>
            <a:r>
              <a:t>Perbandingan tiga model dan aplikasi Streamlit terkalibrasi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83096"/>
            <a:ext cx="110642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AB4C8"/>
                </a:solidFill>
                <a:latin typeface="Aptos"/>
              </a:defRPr>
            </a:pPr>
            <a:r>
              <a:t>ML 2026  •  B2  •  Kelompok 12                                    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05840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A78BFA"/>
                </a:solidFill>
                <a:latin typeface="Aptos"/>
              </a:defRPr>
            </a:pPr>
            <a:r>
              <a:t>KELOMPOK 12  /  KELAS B2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10789920" cy="18288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E9EDF5"/>
                </a:solidFill>
                <a:latin typeface="Aptos"/>
              </a:defRPr>
            </a:pPr>
            <a:r>
              <a:t>Muhamad Akhdan Ramadhan  —  J0404241102</a:t>
            </a:r>
          </a:p>
          <a:p>
            <a:pPr>
              <a:spcAft>
                <a:spcPts val="1000"/>
              </a:spcAft>
              <a:defRPr sz="2500" b="0">
                <a:solidFill>
                  <a:srgbClr val="E9EDF5"/>
                </a:solidFill>
                <a:latin typeface="Aptos"/>
              </a:defRPr>
            </a:pPr>
            <a:r>
              <a:t>Thevan Erlangga  —  J0404241073</a:t>
            </a:r>
          </a:p>
          <a:p>
            <a:pPr>
              <a:spcAft>
                <a:spcPts val="1000"/>
              </a:spcAft>
              <a:defRPr sz="2500" b="0">
                <a:solidFill>
                  <a:srgbClr val="E9EDF5"/>
                </a:solidFill>
                <a:latin typeface="Aptos"/>
              </a:defRPr>
            </a:pPr>
            <a:r>
              <a:t>Fachri Abyasa Tarid  —  J0404241136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03520"/>
            <a:ext cx="107899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AAB4C8"/>
                </a:solidFill>
                <a:latin typeface="Aptos"/>
              </a:defRPr>
            </a:pPr>
            <a:r>
              <a:t>Mata Kuliah Pembelajaran Mesin • Project Akhir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E9EDF5"/>
                </a:solidFill>
                <a:latin typeface="Aptos"/>
              </a:defRPr>
            </a:pPr>
            <a:r>
              <a:t>Latar belakang &amp; rumusan masalah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106424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AB4C8"/>
                </a:solidFill>
                <a:latin typeface="Aptos"/>
              </a:defRPr>
            </a:pPr>
            <a:r>
              <a:t>Churn = pelanggan berhenti berlangganan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83096"/>
            <a:ext cx="110642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AB4C8"/>
                </a:solidFill>
                <a:latin typeface="Aptos"/>
              </a:defRPr>
            </a:pPr>
            <a:r>
              <a:t>ML 2026  •  B2  •  Kelompok 12                                    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10972800" cy="43891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E9EDF5"/>
                </a:solidFill>
                <a:latin typeface="Aptos"/>
              </a:defRPr>
            </a:pPr>
            <a:r>
              <a:t>• Pelanggan memiliki profil kontrak, layanan, dan pembayaran yang berbeda.</a:t>
            </a:r>
          </a:p>
          <a:p>
            <a:pPr>
              <a:spcAft>
                <a:spcPts val="1000"/>
              </a:spcAft>
              <a:defRPr sz="2200" b="0">
                <a:solidFill>
                  <a:srgbClr val="E9EDF5"/>
                </a:solidFill>
                <a:latin typeface="Aptos"/>
              </a:defRPr>
            </a:pPr>
            <a:r>
              <a:t>• Identifikasi risiko membantu menentukan prioritas tindak lanjut retensi [1, 4].</a:t>
            </a:r>
          </a:p>
          <a:p>
            <a:pPr>
              <a:spcAft>
                <a:spcPts val="1000"/>
              </a:spcAft>
              <a:defRPr sz="2200" b="0">
                <a:solidFill>
                  <a:srgbClr val="E9EDF5"/>
                </a:solidFill>
                <a:latin typeface="Aptos"/>
              </a:defRPr>
            </a:pPr>
            <a:r>
              <a:t>• Masalah: bagaimana memprediksi churn dari data pelanggan secara terukur?</a:t>
            </a:r>
          </a:p>
          <a:p>
            <a:pPr>
              <a:spcAft>
                <a:spcPts val="1000"/>
              </a:spcAft>
              <a:defRPr sz="2200" b="0">
                <a:solidFill>
                  <a:srgbClr val="E9EDF5"/>
                </a:solidFill>
                <a:latin typeface="Aptos"/>
              </a:defRPr>
            </a:pPr>
            <a:r>
              <a:t>• Tantangan: kelas churn minoritas dan biaya false alarm / churn terlewat berbeda.</a:t>
            </a:r>
          </a:p>
          <a:p>
            <a:pPr>
              <a:spcAft>
                <a:spcPts val="1000"/>
              </a:spcAft>
              <a:defRPr sz="2200" b="0">
                <a:solidFill>
                  <a:srgbClr val="E9EDF5"/>
                </a:solidFill>
                <a:latin typeface="Aptos"/>
              </a:defRPr>
            </a:pPr>
            <a:r>
              <a:t>• Prediksi risiko belum membuktikan efektivitas tindakan retensi.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E9EDF5"/>
                </a:solidFill>
                <a:latin typeface="Aptos"/>
              </a:defRPr>
            </a:pPr>
            <a:r>
              <a:t>Tujuan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106424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AB4C8"/>
                </a:solidFill>
                <a:latin typeface="Aptos"/>
              </a:defRPr>
            </a:pPr>
            <a:r>
              <a:t>Klasifikasi supervised tabular, bukan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83096"/>
            <a:ext cx="110642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AB4C8"/>
                </a:solidFill>
                <a:latin typeface="Aptos"/>
              </a:defRPr>
            </a:pPr>
            <a:r>
              <a:t>ML 2026  •  B2  •  Kelompok 12                                    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10972800" cy="43891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E9EDF5"/>
                </a:solidFill>
                <a:latin typeface="Aptos"/>
              </a:defRPr>
            </a:pPr>
            <a:r>
              <a:t>• Memahami dataset melalui EDA dan preprocessing yang sesuai.</a:t>
            </a:r>
          </a:p>
          <a:p>
            <a:pPr>
              <a:spcAft>
                <a:spcPts val="1000"/>
              </a:spcAft>
              <a:defRPr sz="2200" b="0">
                <a:solidFill>
                  <a:srgbClr val="E9EDF5"/>
                </a:solidFill>
                <a:latin typeface="Aptos"/>
              </a:defRPr>
            </a:pPr>
            <a:r>
              <a:t>• Membandingkan Logistic Regression, Decision Tree, dan Random Forest.</a:t>
            </a:r>
          </a:p>
          <a:p>
            <a:pPr>
              <a:spcAft>
                <a:spcPts val="1000"/>
              </a:spcAft>
              <a:defRPr sz="2200" b="0">
                <a:solidFill>
                  <a:srgbClr val="E9EDF5"/>
                </a:solidFill>
                <a:latin typeface="Aptos"/>
              </a:defRPr>
            </a:pPr>
            <a:r>
              <a:t>• Memilih model inti melalui validation CV-F1 pada data training.</a:t>
            </a:r>
          </a:p>
          <a:p>
            <a:pPr>
              <a:spcAft>
                <a:spcPts val="1000"/>
              </a:spcAft>
              <a:defRPr sz="2200" b="0">
                <a:solidFill>
                  <a:srgbClr val="E9EDF5"/>
                </a:solidFill>
                <a:latin typeface="Aptos"/>
              </a:defRPr>
            </a:pPr>
            <a:r>
              <a:t>• Menghasilkan probabilitas terkalibrasi dan keputusan dengan threshold train-only.</a:t>
            </a:r>
          </a:p>
          <a:p>
            <a:pPr>
              <a:spcAft>
                <a:spcPts val="1000"/>
              </a:spcAft>
              <a:defRPr sz="2200" b="0">
                <a:solidFill>
                  <a:srgbClr val="E9EDF5"/>
                </a:solidFill>
                <a:latin typeface="Aptos"/>
              </a:defRPr>
            </a:pPr>
            <a:r>
              <a:t>• Menyediakan aplikasi single/batch CSV dengan validasi dan dashboard transparan.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E9EDF5"/>
                </a:solidFill>
                <a:latin typeface="Aptos"/>
              </a:defRPr>
            </a:pPr>
            <a:r>
              <a:t>Studi literatur — metode &amp; evaluasi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106424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AB4C8"/>
                </a:solidFill>
                <a:latin typeface="Aptos"/>
              </a:defRPr>
            </a:pPr>
            <a:r>
              <a:t>Lima jurnal terverifikasi • ringkasan hasil penulis, bukan hasil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83096"/>
            <a:ext cx="110642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AB4C8"/>
                </a:solidFill>
                <a:latin typeface="Aptos"/>
              </a:defRPr>
            </a:pPr>
            <a:r>
              <a:t>ML 2026  •  B2  •  Kelompok 12                                      04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1106423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4132"/>
                <a:gridCol w="2544775"/>
                <a:gridCol w="3097987"/>
                <a:gridCol w="2987344"/>
              </a:tblGrid>
              <a:tr h="8229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Referensi</a:t>
                      </a:r>
                    </a:p>
                  </a:txBody>
                  <a:tcPr marL="91440" marR="91440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Dataset</a:t>
                      </a:r>
                    </a:p>
                  </a:txBody>
                  <a:tcPr marL="91440" marR="91440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Metode</a:t>
                      </a:r>
                    </a:p>
                  </a:txBody>
                  <a:tcPr marL="91440" marR="91440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Hasil utama</a:t>
                      </a:r>
                    </a:p>
                  </a:txBody>
                  <a:tcPr marL="91440" marR="91440">
                    <a:solidFill>
                      <a:srgbClr val="7C3AE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[1] Sana et al. (2022)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4 dataset; termasuk Telco 7.043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8 model; transformasi + feature selection + grid search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WOE+LR: AUC 0,796 / F1 0,79 (Dataset-1)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[2] Y., Ly &amp; Son (2022)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Orange 3.333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Kernel SVM + SFS/SBS + SMOTE-ENN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Accuracy 0,9888 / F1 0,9901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[3] Bilal et al. (2022)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GitHub 5.000 / BigML 3.333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Clustering + classifier ensemble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Accuracy 94,7% / 92,43%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303520"/>
            <a:ext cx="10972800" cy="8229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AAB4C8"/>
                </a:solidFill>
                <a:latin typeface="Aptos"/>
              </a:defRPr>
            </a:pPr>
            <a:r>
              <a:t>Project: 3 model tabular + pipeline train-only + sigmoid calibration + Streamlit. Skor jurnal tidak dibandingkan langsung karena dataset dan protokol berbeda.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E9EDF5"/>
                </a:solidFill>
                <a:latin typeface="Aptos"/>
              </a:defRPr>
            </a:pPr>
            <a:r>
              <a:t>Studi literatur — early warning &amp; pengembangan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106424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AB4C8"/>
                </a:solidFill>
                <a:latin typeface="Aptos"/>
              </a:defRPr>
            </a:pPr>
            <a:r>
              <a:t>Lima jurnal terverifikasi • ringkasan hasil penulis, bukan hasil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83096"/>
            <a:ext cx="110642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AB4C8"/>
                </a:solidFill>
                <a:latin typeface="Aptos"/>
              </a:defRPr>
            </a:pPr>
            <a:r>
              <a:t>ML 2026  •  B2  •  Kelompok 12                                      05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1106423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4132"/>
                <a:gridCol w="2544775"/>
                <a:gridCol w="3097987"/>
                <a:gridCol w="2987344"/>
              </a:tblGrid>
              <a:tr h="10972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Referensi</a:t>
                      </a:r>
                    </a:p>
                  </a:txBody>
                  <a:tcPr marL="91440" marR="91440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Dataset</a:t>
                      </a:r>
                    </a:p>
                  </a:txBody>
                  <a:tcPr marL="91440" marR="91440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Metode</a:t>
                      </a:r>
                    </a:p>
                  </a:txBody>
                  <a:tcPr marL="91440" marR="91440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Hasil utama</a:t>
                      </a:r>
                    </a:p>
                  </a:txBody>
                  <a:tcPr marL="91440" marR="91440">
                    <a:solidFill>
                      <a:srgbClr val="7C3AED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[4] Zhou et al. (2023)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Operator 900.000 mentah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RF-AdaBoost + SMOTE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P=0,99 / R=0,93 / F1=0,96 (churn)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[5] Khattak et al. (2023)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Telco; 7.033 menurut artikel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BiLSTM-CNN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Accuracy 81% / F-score 65%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303520"/>
            <a:ext cx="10972800" cy="8229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AAB4C8"/>
                </a:solidFill>
                <a:latin typeface="Aptos"/>
              </a:defRPr>
            </a:pPr>
            <a:r>
              <a:t>Project: 3 model tabular + pipeline train-only + sigmoid calibration + Streamlit. Skor jurnal tidak dibandingkan langsung karena dataset dan protokol berbeda.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E9EDF5"/>
                </a:solidFill>
                <a:latin typeface="Aptos"/>
              </a:defRPr>
            </a:pPr>
            <a:r>
              <a:t>Dataset &amp;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106424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AB4C8"/>
                </a:solidFill>
                <a:latin typeface="Aptos"/>
              </a:defRPr>
            </a:pPr>
            <a:r>
              <a:t>Sumber: IBM Telco Customer Churn di Kaggle — blastchar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83096"/>
            <a:ext cx="110642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AB4C8"/>
                </a:solidFill>
                <a:latin typeface="Aptos"/>
              </a:defRPr>
            </a:pPr>
            <a:r>
              <a:t>ML 2026  •  B2  •  Kelompok 12                                      06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11064239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7344"/>
                <a:gridCol w="8076895"/>
              </a:tblGrid>
              <a:tr h="59436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Komponen</a:t>
                      </a:r>
                    </a:p>
                  </a:txBody>
                  <a:tcPr marL="91440" marR="91440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Jumlah / karakteristik</a:t>
                      </a:r>
                    </a:p>
                  </a:txBody>
                  <a:tcPr marL="91440" marR="91440">
                    <a:solidFill>
                      <a:srgbClr val="7C3AE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Data mentah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7.043 pelanggan • 21 kolom (ID + 19 kandidat fitur + target)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Cohort pemodelan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7.032 pelanggan • 18 input fitur + target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Target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Churn Yes=1 / No=0 • 1.869 churn dan 5.163 tidak churn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Numerik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tenure (bulan), MonthlyCharges ($); SeniorCitizen indikator 0/1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Kategorikal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15 fitur: kontrak, layanan, pembayaran, demografi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532120"/>
            <a:ext cx="1097280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AAB4C8"/>
                </a:solidFill>
                <a:latin typeface="Aptos"/>
              </a:defRPr>
            </a:pPr>
            <a:r>
              <a:t>Sumber dan kamus seluruh 21 variabel: docs/eda/EDA.md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E9EDF5"/>
                </a:solidFill>
                <a:latin typeface="Aptos"/>
              </a:defRPr>
            </a:pPr>
            <a:r>
              <a:t>Pemeriksaan kualitas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106424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AB4C8"/>
                </a:solidFill>
                <a:latin typeface="Aptos"/>
              </a:defRPr>
            </a:pPr>
            <a:r>
              <a:t>Missing, duplikat, outlier, dan keputusan cleaning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83096"/>
            <a:ext cx="110642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AB4C8"/>
                </a:solidFill>
                <a:latin typeface="Aptos"/>
              </a:defRPr>
            </a:pPr>
            <a:r>
              <a:t>ML 2026  •  B2  •  Kelompok 12                                     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10972800" cy="43891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E9EDF5"/>
                </a:solidFill>
                <a:latin typeface="Aptos"/>
              </a:defRPr>
            </a:pPr>
            <a:r>
              <a:t>• 11 TotalCharges kosong → numeric coercion → missing; seluruhnya tenure 0 / tidak churn.</a:t>
            </a:r>
          </a:p>
          <a:p>
            <a:pPr>
              <a:spcAft>
                <a:spcPts val="1000"/>
              </a:spcAft>
              <a:defRPr sz="2100" b="0">
                <a:solidFill>
                  <a:srgbClr val="E9EDF5"/>
                </a:solidFill>
                <a:latin typeface="Aptos"/>
              </a:defRPr>
            </a:pPr>
            <a:r>
              <a:t>• Tidak ada customerID ganda atau baris mentah identik.</a:t>
            </a:r>
          </a:p>
          <a:p>
            <a:pPr>
              <a:spcAft>
                <a:spcPts val="1000"/>
              </a:spcAft>
              <a:defRPr sz="2100" b="0">
                <a:solidFill>
                  <a:srgbClr val="E9EDF5"/>
                </a:solidFill>
                <a:latin typeface="Aptos"/>
              </a:defRPr>
            </a:pPr>
            <a:r>
              <a:t>• 27 profil duplikat setelah ID/TotalCharges dihapus (termasuk target); tidak dibuang otomatis.</a:t>
            </a:r>
          </a:p>
          <a:p>
            <a:pPr>
              <a:spcAft>
                <a:spcPts val="1000"/>
              </a:spcAft>
              <a:defRPr sz="2100" b="0">
                <a:solidFill>
                  <a:srgbClr val="E9EDF5"/>
                </a:solidFill>
                <a:latin typeface="Aptos"/>
              </a:defRPr>
            </a:pPr>
            <a:r>
              <a:t>• IQR 1,5× pada tenure, MonthlyCharges, TotalCharges: 0 outlier; tidak dilakukan clipping.</a:t>
            </a:r>
          </a:p>
          <a:p>
            <a:pPr>
              <a:spcAft>
                <a:spcPts val="1000"/>
              </a:spcAft>
              <a:defRPr sz="2100" b="0">
                <a:solidFill>
                  <a:srgbClr val="E9EDF5"/>
                </a:solidFill>
                <a:latin typeface="Aptos"/>
              </a:defRPr>
            </a:pPr>
            <a:r>
              <a:t>• 18 profil test cocok dengan profil train; menjadi keterbatasan generalisasi profil baru.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E9EDF5"/>
                </a:solidFill>
                <a:latin typeface="Aptos"/>
              </a:defRPr>
            </a:pPr>
            <a:r>
              <a:t>EDA — distribusi kelas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106424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AB4C8"/>
                </a:solidFill>
                <a:latin typeface="Aptos"/>
              </a:defRPr>
            </a:pPr>
            <a:r>
              <a:t>Hubungan fitur–target dianalisis pada training set saja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83096"/>
            <a:ext cx="110642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AB4C8"/>
                </a:solidFill>
                <a:latin typeface="Aptos"/>
              </a:defRPr>
            </a:pPr>
            <a:r>
              <a:t>ML 2026  •  B2  •  Kelompok 12                                      08</a:t>
            </a:r>
          </a:p>
        </p:txBody>
      </p:sp>
      <p:pic>
        <p:nvPicPr>
          <p:cNvPr id="6" name="Picture 5" descr="01_targe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81" y="1645919"/>
            <a:ext cx="10924757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120640"/>
            <a:ext cx="10972800" cy="11430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AAB4C8"/>
                </a:solidFill>
                <a:latin typeface="Aptos"/>
              </a:defRPr>
            </a:pPr>
            <a:r>
              <a:t>Kelas tidak churn dominan (sekitar 73,4%) dan churn sekitar 26,6% pada cohort bersih. Accuracy saja dapat menutupi kegagalan mendeteksi kelas churn; gunakan precision, recall, dan F1.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E9EDF5"/>
                </a:solidFill>
                <a:latin typeface="Aptos"/>
              </a:defRPr>
            </a:pPr>
            <a:r>
              <a:t>EDA — distribusi numerik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106424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AB4C8"/>
                </a:solidFill>
                <a:latin typeface="Aptos"/>
              </a:defRPr>
            </a:pPr>
            <a:r>
              <a:t>Hubungan fitur–target dianalisis pada training set saja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83096"/>
            <a:ext cx="110642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AB4C8"/>
                </a:solidFill>
                <a:latin typeface="Aptos"/>
              </a:defRPr>
            </a:pPr>
            <a:r>
              <a:t>ML 2026  •  B2  •  Kelompok 12                                      09</a:t>
            </a:r>
          </a:p>
        </p:txBody>
      </p:sp>
      <p:pic>
        <p:nvPicPr>
          <p:cNvPr id="6" name="Picture 5" descr="02_numeric_histograms_t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19153"/>
            <a:ext cx="11064240" cy="31453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120640"/>
            <a:ext cx="10972800" cy="11430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AAB4C8"/>
                </a:solidFill>
                <a:latin typeface="Aptos"/>
              </a:defRPr>
            </a:pPr>
            <a:r>
              <a:t>Tenure mencakup pelanggan baru hingga 72 bulan; tagihan memiliki beberapa kelompok sesuai paket layanan. TotalCharges berhubungan dengan durasi berlangganan. Bentuk histogram tidak mengharuskan normalisasi agar normal; StandardScaler digunakan untuk skala numerik Logistic Regression.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E9EDF5"/>
                </a:solidFill>
                <a:latin typeface="Aptos"/>
              </a:defRPr>
            </a:pPr>
            <a:r>
              <a:t>EDA — profil churn vs tidak churn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106424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AB4C8"/>
                </a:solidFill>
                <a:latin typeface="Aptos"/>
              </a:defRPr>
            </a:pPr>
            <a:r>
              <a:t>Hubungan fitur–target dianalisis pada training set saja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83096"/>
            <a:ext cx="110642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AB4C8"/>
                </a:solidFill>
                <a:latin typeface="Aptos"/>
              </a:defRPr>
            </a:pPr>
            <a:r>
              <a:t>ML 2026  •  B2  •  Kelompok 12                                      10</a:t>
            </a:r>
          </a:p>
        </p:txBody>
      </p:sp>
      <p:pic>
        <p:nvPicPr>
          <p:cNvPr id="6" name="Picture 5" descr="03_numeric_boxplots_t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15" y="1645919"/>
            <a:ext cx="10936288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120640"/>
            <a:ext cx="10972800" cy="11430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AAB4C8"/>
                </a:solidFill>
                <a:latin typeface="Aptos"/>
              </a:defRPr>
            </a:pPr>
            <a:r>
              <a:t>Median tenure pelanggan churn pada train adalah 10 bulan, dibanding 38 bulan pada tidak churn. Median tagihan churn $79.90 vs $64.68. Ini hubungan deskriptif, bukan bukti bahwa menaikkan tagihan atau mengganti kontrak menyebabkan churn. Titik outlier boxplot dihitung per kelas; berbeda dari pemeriksaan IQR seluruh cohort pada tabel kualitas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E9EDF5"/>
                </a:solidFill>
                <a:latin typeface="Aptos"/>
              </a:defRPr>
            </a:pPr>
            <a:r>
              <a:t>EDA — kontrak, internet, pembayaran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106424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AB4C8"/>
                </a:solidFill>
                <a:latin typeface="Aptos"/>
              </a:defRPr>
            </a:pPr>
            <a:r>
              <a:t>Hubungan fitur–target dianalisis pada training set saja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83096"/>
            <a:ext cx="110642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AB4C8"/>
                </a:solidFill>
                <a:latin typeface="Aptos"/>
              </a:defRPr>
            </a:pPr>
            <a:r>
              <a:t>ML 2026  •  B2  •  Kelompok 12                                      11</a:t>
            </a:r>
          </a:p>
        </p:txBody>
      </p:sp>
      <p:pic>
        <p:nvPicPr>
          <p:cNvPr id="6" name="Picture 5" descr="05_categorical_churn_t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545" y="1645919"/>
            <a:ext cx="10182428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120640"/>
            <a:ext cx="10972800" cy="11430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AAB4C8"/>
                </a:solidFill>
                <a:latin typeface="Aptos"/>
              </a:defRPr>
            </a:pPr>
            <a:r>
              <a:t>Pada train, churn rate kontrak bulanan 43.1%, sedangkan kontrak dua tahun 2.9%. Pelanggan fiber/electronic check juga memiliki profil churn berbeda. Asosiasi ini mendukung pemilihan fitur, bukan jaminan efektivitas saran retensi.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E9EDF5"/>
                </a:solidFill>
                <a:latin typeface="Aptos"/>
              </a:defRPr>
            </a:pPr>
            <a:r>
              <a:t>EDA — korelasi &amp; pilihan fitur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106424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AB4C8"/>
                </a:solidFill>
                <a:latin typeface="Aptos"/>
              </a:defRPr>
            </a:pPr>
            <a:r>
              <a:t>Korelasi bukan identitas dan bukan sebab-akibat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83096"/>
            <a:ext cx="110642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AB4C8"/>
                </a:solidFill>
                <a:latin typeface="Aptos"/>
              </a:defRPr>
            </a:pPr>
            <a:r>
              <a:t>ML 2026  •  B2  •  Kelompok 12                                      12</a:t>
            </a:r>
          </a:p>
        </p:txBody>
      </p:sp>
      <p:pic>
        <p:nvPicPr>
          <p:cNvPr id="6" name="Picture 5" descr="04_correlation_t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90" y="1645920"/>
            <a:ext cx="5630259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29400" y="1828800"/>
            <a:ext cx="4937760" cy="43891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E9EDF5"/>
                </a:solidFill>
                <a:latin typeface="Aptos"/>
              </a:defRPr>
            </a:pPr>
            <a:r>
              <a:t>• TotalCharges berkorelasi kuat dengan tenure.</a:t>
            </a:r>
          </a:p>
          <a:p>
            <a:pPr>
              <a:spcAft>
                <a:spcPts val="1000"/>
              </a:spcAft>
              <a:defRPr sz="2000" b="0">
                <a:solidFill>
                  <a:srgbClr val="E9EDF5"/>
                </a:solidFill>
                <a:latin typeface="Aptos"/>
              </a:defRPr>
            </a:pPr>
            <a:r>
              <a:t>• TotalCharges dihapus agar input aplikasi sederhana.</a:t>
            </a:r>
          </a:p>
          <a:p>
            <a:pPr>
              <a:spcAft>
                <a:spcPts val="1000"/>
              </a:spcAft>
              <a:defRPr sz="2000" b="0">
                <a:solidFill>
                  <a:srgbClr val="E9EDF5"/>
                </a:solidFill>
                <a:latin typeface="Aptos"/>
              </a:defRPr>
            </a:pPr>
            <a:r>
              <a:t>• Tidak selalu MonthlyCharges × tenure.</a:t>
            </a:r>
          </a:p>
          <a:p>
            <a:pPr>
              <a:spcAft>
                <a:spcPts val="1000"/>
              </a:spcAft>
              <a:defRPr sz="2000" b="0">
                <a:solidFill>
                  <a:srgbClr val="E9EDF5"/>
                </a:solidFill>
                <a:latin typeface="Aptos"/>
              </a:defRPr>
            </a:pPr>
            <a:r>
              <a:t>• Belum ada ablation untuk membuktikan keuntungan penghapusan fitur.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E9EDF5"/>
                </a:solidFill>
                <a:latin typeface="Aptos"/>
              </a:defRPr>
            </a:pPr>
            <a:r>
              <a:t>Preprocessing &amp; pencegahan leakage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106424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AB4C8"/>
                </a:solidFill>
                <a:latin typeface="Aptos"/>
              </a:defRPr>
            </a:pPr>
            <a:r>
              <a:t>Fit preprocessing hanya pada training fold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83096"/>
            <a:ext cx="110642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AB4C8"/>
                </a:solidFill>
                <a:latin typeface="Aptos"/>
              </a:defRPr>
            </a:pPr>
            <a:r>
              <a:t>ML 2026  •  B2  •  Kelompok 12                            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10972800" cy="43891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E9EDF5"/>
                </a:solidFill>
                <a:latin typeface="Aptos"/>
              </a:defRPr>
            </a:pPr>
            <a:r>
              <a:t>• customerID dihapus; TotalCharges tidak digunakan; 11 catatan tidak lengkap dieksklusi.</a:t>
            </a:r>
          </a:p>
          <a:p>
            <a:pPr>
              <a:spcAft>
                <a:spcPts val="1000"/>
              </a:spcAft>
              <a:defRPr sz="2100" b="0">
                <a:solidFill>
                  <a:srgbClr val="E9EDF5"/>
                </a:solidFill>
                <a:latin typeface="Aptos"/>
              </a:defRPr>
            </a:pPr>
            <a:r>
              <a:t>• StandardScaler: SeniorCitizen, tenure, MonthlyCharges; OneHotEncoder: 15 kategori.</a:t>
            </a:r>
          </a:p>
          <a:p>
            <a:pPr>
              <a:spcAft>
                <a:spcPts val="1000"/>
              </a:spcAft>
              <a:defRPr sz="2100" b="0">
                <a:solidFill>
                  <a:srgbClr val="E9EDF5"/>
                </a:solidFill>
                <a:latin typeface="Aptos"/>
              </a:defRPr>
            </a:pPr>
            <a:r>
              <a:t>• Scaling membantu LR; pohon tetap memakai pipeline konsisten walau tidak memerlukannya.</a:t>
            </a:r>
          </a:p>
          <a:p>
            <a:pPr>
              <a:spcAft>
                <a:spcPts val="1000"/>
              </a:spcAft>
              <a:defRPr sz="2100" b="0">
                <a:solidFill>
                  <a:srgbClr val="E9EDF5"/>
                </a:solidFill>
                <a:latin typeface="Aptos"/>
              </a:defRPr>
            </a:pPr>
            <a:r>
              <a:t>• Class weight dituning untuk imbalance; tanpa SMOTE pada eksperimen project.</a:t>
            </a:r>
          </a:p>
          <a:p>
            <a:pPr>
              <a:spcAft>
                <a:spcPts val="1000"/>
              </a:spcAft>
              <a:defRPr sz="2100" b="0">
                <a:solidFill>
                  <a:srgbClr val="E9EDF5"/>
                </a:solidFill>
                <a:latin typeface="Aptos"/>
              </a:defRPr>
            </a:pPr>
            <a:r>
              <a:t>• ColumnTransformer + classifier dalam Pipeline; test tidak dipakai untuk fit/tuning.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E9EDF5"/>
                </a:solidFill>
                <a:latin typeface="Aptos"/>
              </a:defRPr>
            </a:pPr>
            <a:r>
              <a:t>Tiga algoritma &amp; alasan pemilihan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106424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AB4C8"/>
                </a:solidFill>
                <a:latin typeface="Aptos"/>
              </a:defRPr>
            </a:pPr>
            <a:r>
              <a:t>Membandingkan model linear, pohon tunggal, dan 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83096"/>
            <a:ext cx="110642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AB4C8"/>
                </a:solidFill>
                <a:latin typeface="Aptos"/>
              </a:defRPr>
            </a:pPr>
            <a:r>
              <a:t>ML 2026  •  B2  •  Kelompok 12                                     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11064238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5417"/>
                <a:gridCol w="4646980"/>
                <a:gridCol w="3761841"/>
              </a:tblGrid>
              <a:tr h="84582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91440" marR="91440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Alasan</a:t>
                      </a:r>
                    </a:p>
                  </a:txBody>
                  <a:tcPr marL="91440" marR="91440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Risiko / kontrol</a:t>
                      </a:r>
                    </a:p>
                  </a:txBody>
                  <a:tcPr marL="91440" marR="91440">
                    <a:solidFill>
                      <a:srgbClr val="7C3AED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Logistic Regression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Ringan; baseline linear log-odds; koefisien mudah dibahas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C dan class_weight dituning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Decision Tree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Aturan non-linear dan interaksi fitur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max_depth / min_samples_split / class_weight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Bagging banyak pohon; pembanding kompleksitas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Kedalaman dan split dituning; periksa overfitting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440680"/>
            <a:ext cx="1097280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AAB4C8"/>
                </a:solidFill>
                <a:latin typeface="Aptos"/>
              </a:defRPr>
            </a:pPr>
            <a:r>
              <a:t>Dasar literatur: [1] membandingkan ketiganya; [3]–[4] membahas ensemble churn.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E9EDF5"/>
                </a:solidFill>
                <a:latin typeface="Aptos"/>
              </a:defRPr>
            </a:pPr>
            <a:r>
              <a:t>Training, validation &amp; parameter terbaik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106424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AB4C8"/>
                </a:solidFill>
                <a:latin typeface="Aptos"/>
              </a:defRPr>
            </a:pPr>
            <a:r>
              <a:t>80:20 stratified • random_state=42 • CV 5-fold • GridSearch scoring F1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83096"/>
            <a:ext cx="110642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AB4C8"/>
                </a:solidFill>
                <a:latin typeface="Aptos"/>
              </a:defRPr>
            </a:pPr>
            <a:r>
              <a:t>ML 2026  •  B2  •  Kelompok 12                                      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1106423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5417"/>
                <a:gridCol w="6749186"/>
                <a:gridCol w="1659636"/>
              </a:tblGrid>
              <a:tr h="80010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91440" marR="91440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Parameter terbaik</a:t>
                      </a:r>
                    </a:p>
                  </a:txBody>
                  <a:tcPr marL="91440" marR="91440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CV-F1</a:t>
                      </a:r>
                    </a:p>
                  </a:txBody>
                  <a:tcPr marL="91440" marR="91440">
                    <a:solidFill>
                      <a:srgbClr val="7C3AED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Logistic Regression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C=10; class_weight=balanced; max_iter=1.000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0,6304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Decision Tree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max_depth=5; min_samples_split=2; balanced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0,6147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200 pohon; depth=12; min_samples_split=5; balanced_subsample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0,6260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166360"/>
            <a:ext cx="10972800" cy="914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AAB4C8"/>
                </a:solidFill>
                <a:latin typeface="Aptos"/>
              </a:defRPr>
            </a:pPr>
            <a:r>
              <a:t>Train 5.625; test 1.407. Grid: LR 6, DT 12, RF 8 konfigurasi × 5 fold = 130 fit CV, ditambah refit pemenang setiap model. Test tidak masuk fold training.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E9EDF5"/>
                </a:solidFill>
                <a:latin typeface="Aptos"/>
              </a:defRPr>
            </a:pPr>
            <a:r>
              <a:t>Evaluasi &amp; perbandingan model inti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106424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AB4C8"/>
                </a:solidFill>
                <a:latin typeface="Aptos"/>
              </a:defRPr>
            </a:pPr>
            <a:r>
              <a:t>Label positif: churn • threshold 0,50 • holdout yang sama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83096"/>
            <a:ext cx="110642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AB4C8"/>
                </a:solidFill>
                <a:latin typeface="Aptos"/>
              </a:defRPr>
            </a:pPr>
            <a:r>
              <a:t>ML 2026  •  B2  •  Kelompok 12                                      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1383030"/>
                <a:gridCol w="1383030"/>
                <a:gridCol w="1383030"/>
                <a:gridCol w="1383030"/>
                <a:gridCol w="1383030"/>
                <a:gridCol w="1383030"/>
              </a:tblGrid>
              <a:tr h="59436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91440" marR="91440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CV-F1</a:t>
                      </a:r>
                    </a:p>
                  </a:txBody>
                  <a:tcPr marL="91440" marR="91440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Accuracy</a:t>
                      </a:r>
                    </a:p>
                  </a:txBody>
                  <a:tcPr marL="91440" marR="91440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Precision</a:t>
                      </a:r>
                    </a:p>
                  </a:txBody>
                  <a:tcPr marL="91440" marR="91440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Recall</a:t>
                      </a:r>
                    </a:p>
                  </a:txBody>
                  <a:tcPr marL="91440" marR="91440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F1</a:t>
                      </a:r>
                    </a:p>
                  </a:txBody>
                  <a:tcPr marL="91440" marR="91440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AUC</a:t>
                      </a:r>
                    </a:p>
                  </a:txBody>
                  <a:tcPr marL="91440" marR="91440">
                    <a:solidFill>
                      <a:srgbClr val="7C3AE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LogisticRegression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0.6304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0.7264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0.4908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0.7861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0.6043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0.8321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RandomForest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0.6260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0.7697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0.5548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0.6765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0.6096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0.8235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DecisionTree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0.6147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0.7363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0.5025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0.7968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0.6163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0.8305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4480560"/>
            <a:ext cx="10972800" cy="1371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E9EDF5"/>
                </a:solidFill>
                <a:latin typeface="Aptos"/>
              </a:defRPr>
            </a:pPr>
            <a:r>
              <a:t>LR dipilih dengan CV-F1 tertinggi pada train. DT memiliki recall/F1 test tertinggi; RF accuracy tertinggi. DT CV-F1 terendah; LR F1 test terendah di antara model inti. Selisih CV-F1 LR–RF hanya 0,0044, bukan bukti unggul mutlak.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E9EDF5"/>
                </a:solidFill>
                <a:latin typeface="Aptos"/>
              </a:defRPr>
            </a:pPr>
            <a:r>
              <a:t>Analisis model &amp; overfitting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106424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AB4C8"/>
                </a:solidFill>
                <a:latin typeface="Aptos"/>
              </a:defRPr>
            </a:pPr>
            <a:r>
              <a:t>Gunakan train–validation–test, bukan accuracy saja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83096"/>
            <a:ext cx="110642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AB4C8"/>
                </a:solidFill>
                <a:latin typeface="Aptos"/>
              </a:defRPr>
            </a:pPr>
            <a:r>
              <a:t>ML 2026  •  B2  •  Kelompok 12                                      17</a:t>
            </a:r>
          </a:p>
        </p:txBody>
      </p:sp>
      <p:pic>
        <p:nvPicPr>
          <p:cNvPr id="6" name="Picture 5" descr="overfit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40249"/>
            <a:ext cx="6492240" cy="2834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737360"/>
            <a:ext cx="4297680" cy="44805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E9EDF5"/>
                </a:solidFill>
                <a:latin typeface="Aptos"/>
              </a:defRPr>
            </a:pPr>
            <a:r>
              <a:t>• RF: F1 train 0,8217 vs test 0,6096 → indikasi overfitting.</a:t>
            </a:r>
          </a:p>
          <a:p>
            <a:pPr>
              <a:spcAft>
                <a:spcPts val="1000"/>
              </a:spcAft>
              <a:defRPr sz="1800" b="0">
                <a:solidFill>
                  <a:srgbClr val="E9EDF5"/>
                </a:solidFill>
                <a:latin typeface="Aptos"/>
              </a:defRPr>
            </a:pPr>
            <a:r>
              <a:t>• LR: train 0,6338 vs test 0,6043; gap lebih kecil.</a:t>
            </a:r>
          </a:p>
          <a:p>
            <a:pPr>
              <a:spcAft>
                <a:spcPts val="1000"/>
              </a:spcAft>
              <a:defRPr sz="1800" b="0">
                <a:solidFill>
                  <a:srgbClr val="E9EDF5"/>
                </a:solidFill>
                <a:latin typeface="Aptos"/>
              </a:defRPr>
            </a:pPr>
            <a:r>
              <a:t>• Baseline selalu tidak churn: accuracy 73,42%, recall churn 0.</a:t>
            </a:r>
          </a:p>
          <a:p>
            <a:pPr>
              <a:spcAft>
                <a:spcPts val="1000"/>
              </a:spcAft>
              <a:defRPr sz="1800" b="0">
                <a:solidFill>
                  <a:srgbClr val="E9EDF5"/>
                </a:solidFill>
                <a:latin typeface="Aptos"/>
              </a:defRPr>
            </a:pPr>
            <a:r>
              <a:t>• Kompleksitas, regularisasi, class_weight dan interaksi dapat memengaruhi hasil.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E9EDF5"/>
                </a:solidFill>
                <a:latin typeface="Aptos"/>
              </a:defRPr>
            </a:pPr>
            <a:r>
              <a:t>Kalibrasi &amp; pemilihan threshold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106424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AB4C8"/>
                </a:solidFill>
                <a:latin typeface="Aptos"/>
              </a:defRPr>
            </a:pPr>
            <a:r>
              <a:t>Model aplikasi: LR + sigmoid calibration 5-fold, train-only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83096"/>
            <a:ext cx="110642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AB4C8"/>
                </a:solidFill>
                <a:latin typeface="Aptos"/>
              </a:defRPr>
            </a:pPr>
            <a:r>
              <a:t>ML 2026  •  B2  •  Kelompok 12                                      18</a:t>
            </a:r>
          </a:p>
        </p:txBody>
      </p:sp>
      <p:pic>
        <p:nvPicPr>
          <p:cNvPr id="6" name="Picture 5" descr="threshold_t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05091"/>
            <a:ext cx="6492240" cy="28649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737360"/>
            <a:ext cx="4297680" cy="44805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E9EDF5"/>
                </a:solidFill>
                <a:latin typeface="Aptos"/>
              </a:defRPr>
            </a:pPr>
            <a:r>
              <a:t>• Grid threshold 0,10–0,60; langkah 0,01.</a:t>
            </a:r>
          </a:p>
          <a:p>
            <a:pPr>
              <a:spcAft>
                <a:spcPts val="1000"/>
              </a:spcAft>
              <a:defRPr sz="1800" b="0">
                <a:solidFill>
                  <a:srgbClr val="E9EDF5"/>
                </a:solidFill>
                <a:latin typeface="Aptos"/>
              </a:defRPr>
            </a:pPr>
            <a:r>
              <a:t>• F1 maksimum prediksi OOF train → threshold 0,32.</a:t>
            </a:r>
          </a:p>
          <a:p>
            <a:pPr>
              <a:spcAft>
                <a:spcPts val="1000"/>
              </a:spcAft>
              <a:defRPr sz="1800" b="0">
                <a:solidFill>
                  <a:srgbClr val="E9EDF5"/>
                </a:solidFill>
                <a:latin typeface="Aptos"/>
              </a:defRPr>
            </a:pPr>
            <a:r>
              <a:t>• Kalibrasi di dalam setiap outer training fold.</a:t>
            </a:r>
          </a:p>
          <a:p>
            <a:pPr>
              <a:spcAft>
                <a:spcPts val="1000"/>
              </a:spcAft>
              <a:defRPr sz="1800" b="0">
                <a:solidFill>
                  <a:srgbClr val="E9EDF5"/>
                </a:solidFill>
                <a:latin typeface="Aptos"/>
              </a:defRPr>
            </a:pPr>
            <a:r>
              <a:t>• OOF F1 0,6338 adalah skor tuning, bukan estimasi independen.</a:t>
            </a:r>
          </a:p>
          <a:p>
            <a:pPr>
              <a:spcAft>
                <a:spcPts val="1000"/>
              </a:spcAft>
              <a:defRPr sz="1800" b="0">
                <a:solidFill>
                  <a:srgbClr val="E9EDF5"/>
                </a:solidFill>
                <a:latin typeface="Aptos"/>
              </a:defRPr>
            </a:pPr>
            <a:r>
              <a:t>• CHURN jika probabilitas ≥32%; TETAP jika lebih rendah.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669280"/>
            <a:ext cx="1097280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AAB4C8"/>
                </a:solidFill>
                <a:latin typeface="Aptos"/>
              </a:defRPr>
            </a:pPr>
            <a:r>
              <a:t>Hyperparameter inti telah dipilih pada train-CV. Test hanya dipakai untuk evaluasi akhir.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E9EDF5"/>
                </a:solidFill>
                <a:latin typeface="Aptos"/>
              </a:defRPr>
            </a:pPr>
            <a:r>
              <a:t>Evaluasi konfigurasi aplikasi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106424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AB4C8"/>
                </a:solidFill>
                <a:latin typeface="Aptos"/>
              </a:defRPr>
            </a:pPr>
            <a:r>
              <a:t>Probabilitas dan keputusan berasal dari model yang sama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83096"/>
            <a:ext cx="110642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AB4C8"/>
                </a:solidFill>
                <a:latin typeface="Aptos"/>
              </a:defRPr>
            </a:pPr>
            <a:r>
              <a:t>ML 2026  •  B2  •  Kelompok 12                                      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1383030"/>
                <a:gridCol w="1383030"/>
                <a:gridCol w="1383030"/>
                <a:gridCol w="1383030"/>
                <a:gridCol w="1383030"/>
                <a:gridCol w="1383030"/>
              </a:tblGrid>
              <a:tr h="76200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Konfigurasi</a:t>
                      </a:r>
                    </a:p>
                  </a:txBody>
                  <a:tcPr marL="91440" marR="91440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Accuracy</a:t>
                      </a:r>
                    </a:p>
                  </a:txBody>
                  <a:tcPr marL="91440" marR="91440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Precision</a:t>
                      </a:r>
                    </a:p>
                  </a:txBody>
                  <a:tcPr marL="91440" marR="91440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Recall</a:t>
                      </a:r>
                    </a:p>
                  </a:txBody>
                  <a:tcPr marL="91440" marR="91440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F1</a:t>
                      </a:r>
                    </a:p>
                  </a:txBody>
                  <a:tcPr marL="91440" marR="91440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AUC</a:t>
                      </a:r>
                    </a:p>
                  </a:txBody>
                  <a:tcPr marL="91440" marR="91440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Brier</a:t>
                      </a:r>
                    </a:p>
                  </a:txBody>
                  <a:tcPr marL="91440" marR="91440">
                    <a:solidFill>
                      <a:srgbClr val="7C3AE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Threshold 0,32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0.7569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0.5309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0.7353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0.6166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0.8324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0.1414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Threshold 0,50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0.8024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0.6472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0.5642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0.6029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0.8324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0.1414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4389120"/>
            <a:ext cx="10972800" cy="10972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E9EDF5"/>
                </a:solidFill>
                <a:latin typeface="Aptos"/>
              </a:defRPr>
            </a:pPr>
            <a:r>
              <a:t>Threshold 0,32 mendeteksi 275 churn vs 211 pada 0,50; false alarm naik 115 → 243. Trade-off precision–recall; ROC-AUC/Brier tidak berubah jika hanya threshold diganti.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E9EDF5"/>
                </a:solidFill>
                <a:latin typeface="Aptos"/>
              </a:defRPr>
            </a:pPr>
            <a:r>
              <a:t>Confusion matrix &amp; kesalahan prediksi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106424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AB4C8"/>
                </a:solidFill>
                <a:latin typeface="Aptos"/>
              </a:defRPr>
            </a:pPr>
            <a:r>
              <a:t>Test: 1.033 tidak churn dan 374 churn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83096"/>
            <a:ext cx="110642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AB4C8"/>
                </a:solidFill>
                <a:latin typeface="Aptos"/>
              </a:defRPr>
            </a:pPr>
            <a:r>
              <a:t>ML 2026  •  B2  •  Kelompok 12                                      20</a:t>
            </a:r>
          </a:p>
        </p:txBody>
      </p:sp>
      <p:pic>
        <p:nvPicPr>
          <p:cNvPr id="6" name="Picture 5" descr="confusion_matrix_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012" y="1554480"/>
            <a:ext cx="5047414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0" y="1828800"/>
            <a:ext cx="4937760" cy="43891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E9EDF5"/>
                </a:solidFill>
                <a:latin typeface="Aptos"/>
              </a:defRPr>
            </a:pPr>
            <a:r>
              <a:t>• TP 275: churn berhasil terdeteksi.</a:t>
            </a:r>
          </a:p>
          <a:p>
            <a:pPr>
              <a:spcAft>
                <a:spcPts val="1000"/>
              </a:spcAft>
              <a:defRPr sz="2100" b="0">
                <a:solidFill>
                  <a:srgbClr val="E9EDF5"/>
                </a:solidFill>
                <a:latin typeface="Aptos"/>
              </a:defRPr>
            </a:pPr>
            <a:r>
              <a:t>• FN 99: churn terlewat.</a:t>
            </a:r>
          </a:p>
          <a:p>
            <a:pPr>
              <a:spcAft>
                <a:spcPts val="1000"/>
              </a:spcAft>
              <a:defRPr sz="2100" b="0">
                <a:solidFill>
                  <a:srgbClr val="E9EDF5"/>
                </a:solidFill>
                <a:latin typeface="Aptos"/>
              </a:defRPr>
            </a:pPr>
            <a:r>
              <a:t>• FP 243: pelanggan tidak churn ditandai churn.</a:t>
            </a:r>
          </a:p>
          <a:p>
            <a:pPr>
              <a:spcAft>
                <a:spcPts val="1000"/>
              </a:spcAft>
              <a:defRPr sz="2100" b="0">
                <a:solidFill>
                  <a:srgbClr val="E9EDF5"/>
                </a:solidFill>
                <a:latin typeface="Aptos"/>
              </a:defRPr>
            </a:pPr>
            <a:r>
              <a:t>• TN 790: tidak churn diprediksi benar.</a:t>
            </a:r>
          </a:p>
          <a:p>
            <a:pPr>
              <a:spcAft>
                <a:spcPts val="1000"/>
              </a:spcAft>
              <a:defRPr sz="2100" b="0">
                <a:solidFill>
                  <a:srgbClr val="E9EDF5"/>
                </a:solidFill>
                <a:latin typeface="Aptos"/>
              </a:defRPr>
            </a:pPr>
            <a:r>
              <a:t>• Precision 53,09%; recall 73,53%. Biaya retensi nyata belum diukur.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E9EDF5"/>
                </a:solidFill>
                <a:latin typeface="Aptos"/>
              </a:defRPr>
            </a:pPr>
            <a:r>
              <a:t>ROC &amp; kualitas probabilitas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106424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AB4C8"/>
                </a:solidFill>
                <a:latin typeface="Aptos"/>
              </a:defRPr>
            </a:pPr>
            <a:r>
              <a:t>Kurva dihitung dari model tersimpan pada holdout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83096"/>
            <a:ext cx="110642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AB4C8"/>
                </a:solidFill>
                <a:latin typeface="Aptos"/>
              </a:defRPr>
            </a:pPr>
            <a:r>
              <a:t>ML 2026  •  B2  •  Kelompok 12                                      21</a:t>
            </a:r>
          </a:p>
        </p:txBody>
      </p:sp>
      <p:pic>
        <p:nvPicPr>
          <p:cNvPr id="6" name="Picture 5" descr="roc_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238" y="1645920"/>
            <a:ext cx="9321043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577840"/>
            <a:ext cx="1097280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AAB4C8"/>
                </a:solidFill>
                <a:latin typeface="Aptos"/>
              </a:defRPr>
            </a:pPr>
            <a:r>
              <a:t>AUC aplikasi 0,8324. Brier turun 0,1741 → 0,1414 setelah kalibrasi. Reliability curve memperlihatkan kedekatan prediksi dan frekuensi aktual; bukan jaminan tiap pelanggan.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E9EDF5"/>
                </a:solidFill>
                <a:latin typeface="Aptos"/>
              </a:defRPr>
            </a:pPr>
            <a:r>
              <a:t>Interpretasi fitur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106424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AB4C8"/>
                </a:solidFill>
                <a:latin typeface="Aptos"/>
              </a:defRPr>
            </a:pPr>
            <a:r>
              <a:t>Koefisien model inti sebelum kalibrasi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83096"/>
            <a:ext cx="110642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AB4C8"/>
                </a:solidFill>
                <a:latin typeface="Aptos"/>
              </a:defRPr>
            </a:pPr>
            <a:r>
              <a:t>ML 2026  •  B2  •  Kelompok 12                                      22</a:t>
            </a:r>
          </a:p>
        </p:txBody>
      </p:sp>
      <p:pic>
        <p:nvPicPr>
          <p:cNvPr id="6" name="Picture 5" descr="coeffici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39554"/>
            <a:ext cx="7315200" cy="36018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828800"/>
            <a:ext cx="3383280" cy="42062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9EDF5"/>
                </a:solidFill>
                <a:latin typeface="Aptos"/>
              </a:defRPr>
            </a:pPr>
            <a:r>
              <a:t>• Tenure negatif: hubungan bersyarat dengan log-odds churn.</a:t>
            </a:r>
          </a:p>
          <a:p>
            <a:pPr>
              <a:spcAft>
                <a:spcPts val="1000"/>
              </a:spcAft>
              <a:defRPr sz="1700" b="0">
                <a:solidFill>
                  <a:srgbClr val="E9EDF5"/>
                </a:solidFill>
                <a:latin typeface="Aptos"/>
              </a:defRPr>
            </a:pPr>
            <a:r>
              <a:t>• Kontrak bulanan dan fiber punya bobot positif pada model inti.</a:t>
            </a:r>
          </a:p>
          <a:p>
            <a:pPr>
              <a:spcAft>
                <a:spcPts val="1000"/>
              </a:spcAft>
              <a:defRPr sz="1700" b="0">
                <a:solidFill>
                  <a:srgbClr val="E9EDF5"/>
                </a:solidFill>
                <a:latin typeface="Aptos"/>
              </a:defRPr>
            </a:pPr>
            <a:r>
              <a:t>• Koefisien MonthlyCharges negatif tidak otomatis salah.</a:t>
            </a:r>
          </a:p>
          <a:p>
            <a:pPr>
              <a:spcAft>
                <a:spcPts val="1000"/>
              </a:spcAft>
              <a:defRPr sz="1700" b="0">
                <a:solidFill>
                  <a:srgbClr val="E9EDF5"/>
                </a:solidFill>
                <a:latin typeface="Aptos"/>
              </a:defRPr>
            </a:pPr>
            <a:r>
              <a:t>• Fitur saling berhubungan; bobot bukan bukti kausal atau peringkat universal.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E9EDF5"/>
                </a:solidFill>
                <a:latin typeface="Aptos"/>
              </a:defRPr>
            </a:pPr>
            <a:r>
              <a:t>Arsitektur &amp; implementasi aplikasi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106424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AB4C8"/>
                </a:solidFill>
                <a:latin typeface="Aptos"/>
              </a:defRPr>
            </a:pPr>
            <a:r>
              <a:t>Python • scikit-learn • pandas • joblib • Streamlit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83096"/>
            <a:ext cx="110642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AB4C8"/>
                </a:solidFill>
                <a:latin typeface="Aptos"/>
              </a:defRPr>
            </a:pPr>
            <a:r>
              <a:t>ML 2026  •  B2  •  Kelompok 12                                     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2560320" cy="2468880"/>
          </a:xfrm>
          <a:prstGeom prst="roundRect">
            <a:avLst/>
          </a:prstGeom>
          <a:solidFill>
            <a:srgbClr val="141B2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22860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A78BFA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2286000" cy="1371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E9EDF5"/>
                </a:solidFill>
                <a:latin typeface="Aptos"/>
              </a:defRPr>
            </a:pPr>
            <a:r>
              <a:t>Form 18 fitur</a:t>
            </a:r>
          </a:p>
          <a:p>
            <a:pPr>
              <a:spcAft>
                <a:spcPts val="1000"/>
              </a:spcAft>
              <a:defRPr sz="2000" b="0">
                <a:solidFill>
                  <a:srgbClr val="E9EDF5"/>
                </a:solidFill>
                <a:latin typeface="Aptos"/>
              </a:defRPr>
            </a:pPr>
            <a:r>
              <a:t>CSV UTF-8</a:t>
            </a:r>
          </a:p>
          <a:p>
            <a:pPr>
              <a:spcAft>
                <a:spcPts val="1000"/>
              </a:spcAft>
              <a:defRPr sz="2000" b="0">
                <a:solidFill>
                  <a:srgbClr val="E9EDF5"/>
                </a:solidFill>
                <a:latin typeface="Aptos"/>
              </a:defRPr>
            </a:pPr>
            <a:r>
              <a:t>Template unduhan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828800"/>
            <a:ext cx="2560320" cy="2468880"/>
          </a:xfrm>
          <a:prstGeom prst="roundRect">
            <a:avLst/>
          </a:prstGeom>
          <a:solidFill>
            <a:srgbClr val="141B2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79" y="2057400"/>
            <a:ext cx="22860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A78BFA"/>
                </a:solidFill>
                <a:latin typeface="Aptos"/>
              </a:defRPr>
            </a:pPr>
            <a:r>
              <a:t>VALIDASI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79" y="2743200"/>
            <a:ext cx="2286000" cy="1371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E9EDF5"/>
                </a:solidFill>
                <a:latin typeface="Aptos"/>
              </a:defRPr>
            </a:pPr>
            <a:r>
              <a:t>Kolom &amp; kategori</a:t>
            </a:r>
          </a:p>
          <a:p>
            <a:pPr>
              <a:spcAft>
                <a:spcPts val="1000"/>
              </a:spcAft>
              <a:defRPr sz="2000" b="0">
                <a:solidFill>
                  <a:srgbClr val="E9EDF5"/>
                </a:solidFill>
                <a:latin typeface="Aptos"/>
              </a:defRPr>
            </a:pPr>
            <a:r>
              <a:t>Angka &amp; rentang</a:t>
            </a:r>
          </a:p>
          <a:p>
            <a:pPr>
              <a:spcAft>
                <a:spcPts val="1000"/>
              </a:spcAft>
              <a:defRPr sz="2000" b="0">
                <a:solidFill>
                  <a:srgbClr val="E9EDF5"/>
                </a:solidFill>
                <a:latin typeface="Aptos"/>
              </a:defRPr>
            </a:pPr>
            <a:r>
              <a:t>Konsistensi layanan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828800"/>
            <a:ext cx="2560320" cy="2468880"/>
          </a:xfrm>
          <a:prstGeom prst="roundRect">
            <a:avLst/>
          </a:prstGeom>
          <a:solidFill>
            <a:srgbClr val="141B2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57400"/>
            <a:ext cx="22860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A78BF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743200"/>
            <a:ext cx="2286000" cy="1371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E9EDF5"/>
                </a:solidFill>
                <a:latin typeface="Aptos"/>
              </a:defRPr>
            </a:pPr>
            <a:r>
              <a:t>Pipeline preprocess</a:t>
            </a:r>
          </a:p>
          <a:p>
            <a:pPr>
              <a:spcAft>
                <a:spcPts val="1000"/>
              </a:spcAft>
              <a:defRPr sz="2000" b="0">
                <a:solidFill>
                  <a:srgbClr val="E9EDF5"/>
                </a:solidFill>
                <a:latin typeface="Aptos"/>
              </a:defRPr>
            </a:pPr>
            <a:r>
              <a:t>Sigmoid calibrated</a:t>
            </a:r>
          </a:p>
          <a:p>
            <a:pPr>
              <a:spcAft>
                <a:spcPts val="1000"/>
              </a:spcAft>
              <a:defRPr sz="2000" b="0">
                <a:solidFill>
                  <a:srgbClr val="E9EDF5"/>
                </a:solidFill>
                <a:latin typeface="Aptos"/>
              </a:defRPr>
            </a:pPr>
            <a:r>
              <a:t>Probabilitas churn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828800"/>
            <a:ext cx="2560320" cy="2468880"/>
          </a:xfrm>
          <a:prstGeom prst="roundRect">
            <a:avLst/>
          </a:prstGeom>
          <a:solidFill>
            <a:srgbClr val="141B2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2057400"/>
            <a:ext cx="22860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A78BFA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743200"/>
            <a:ext cx="2286000" cy="1371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E9EDF5"/>
                </a:solidFill>
                <a:latin typeface="Aptos"/>
              </a:defRPr>
            </a:pPr>
            <a:r>
              <a:t>Threshold 0,32</a:t>
            </a:r>
          </a:p>
          <a:p>
            <a:pPr>
              <a:spcAft>
                <a:spcPts val="1000"/>
              </a:spcAft>
              <a:defRPr sz="2000" b="0">
                <a:solidFill>
                  <a:srgbClr val="E9EDF5"/>
                </a:solidFill>
                <a:latin typeface="Aptos"/>
              </a:defRPr>
            </a:pPr>
            <a:r>
              <a:t>CHURN/TETAP</a:t>
            </a:r>
          </a:p>
          <a:p>
            <a:pPr>
              <a:spcAft>
                <a:spcPts val="1000"/>
              </a:spcAft>
              <a:defRPr sz="2000" b="0">
                <a:solidFill>
                  <a:srgbClr val="E9EDF5"/>
                </a:solidFill>
                <a:latin typeface="Aptos"/>
              </a:defRPr>
            </a:pPr>
            <a:r>
              <a:t>Risiko + CSV hasil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029200"/>
            <a:ext cx="10972800" cy="10058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E9EDF5"/>
                </a:solidFill>
                <a:latin typeface="Aptos"/>
              </a:defRPr>
            </a:pPr>
            <a:r>
              <a:t>Artefak dan metadata diperiksa SHA-256. Hasil lama disembunyikan saat input berubah. CSV invalid ditolak dengan pesan dan nomor baris; tidak dibuang diam-diam.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E9EDF5"/>
                </a:solidFill>
                <a:latin typeface="Aptos"/>
              </a:defRPr>
            </a:pPr>
            <a:r>
              <a:t>Demo aplikasi — jalankan langsung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106424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AB4C8"/>
                </a:solidFill>
                <a:latin typeface="Aptos"/>
              </a:defRPr>
            </a:pPr>
            <a:r>
              <a:t>Buka URL live; tunjukkan interaksi, bukan hanya screenshot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83096"/>
            <a:ext cx="110642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AB4C8"/>
                </a:solidFill>
                <a:latin typeface="Aptos"/>
              </a:defRPr>
            </a:pPr>
            <a:r>
              <a:t>ML 2026  •  B2  •  Kelompok 12                                     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10972800" cy="43891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E9EDF5"/>
                </a:solidFill>
                <a:latin typeface="Aptos"/>
              </a:defRPr>
            </a:pPr>
            <a:r>
              <a:t>• 1. Buka aplikasi: KPI dan tab single, batch, dashboard, serta EDA.</a:t>
            </a:r>
          </a:p>
          <a:p>
            <a:pPr>
              <a:spcAft>
                <a:spcPts val="1000"/>
              </a:spcAft>
              <a:defRPr sz="2100" b="0">
                <a:solidFill>
                  <a:srgbClr val="E9EDF5"/>
                </a:solidFill>
                <a:latin typeface="Aptos"/>
              </a:defRPr>
            </a:pPr>
            <a:r>
              <a:t>• 2. Isi profil pelanggan; klik Prediksi Sekarang dan jelaskan probabilitas/threshold.</a:t>
            </a:r>
          </a:p>
          <a:p>
            <a:pPr>
              <a:spcAft>
                <a:spcPts val="1000"/>
              </a:spcAft>
              <a:defRPr sz="2100" b="0">
                <a:solidFill>
                  <a:srgbClr val="E9EDF5"/>
                </a:solidFill>
                <a:latin typeface="Aptos"/>
              </a:defRPr>
            </a:pPr>
            <a:r>
              <a:t>• 3. Download template → upload CSV → tampilkan ringkasan → download hasil.</a:t>
            </a:r>
          </a:p>
          <a:p>
            <a:pPr>
              <a:spcAft>
                <a:spcPts val="1000"/>
              </a:spcAft>
              <a:defRPr sz="2100" b="0">
                <a:solidFill>
                  <a:srgbClr val="E9EDF5"/>
                </a:solidFill>
                <a:latin typeface="Aptos"/>
              </a:defRPr>
            </a:pPr>
            <a:r>
              <a:t>• 4. Tunjukkan validasi: CSV tanpa tenure atau kategori Contract yang salah.</a:t>
            </a:r>
          </a:p>
          <a:p>
            <a:pPr>
              <a:spcAft>
                <a:spcPts val="1000"/>
              </a:spcAft>
              <a:defRPr sz="2100" b="0">
                <a:solidFill>
                  <a:srgbClr val="E9EDF5"/>
                </a:solidFill>
                <a:latin typeface="Aptos"/>
              </a:defRPr>
            </a:pPr>
            <a:r>
              <a:t>• 5. Buka dashboard: perbandingan model inti dan evaluasi model aplikasi.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806440"/>
            <a:ext cx="109728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60A5FA"/>
                </a:solidFill>
                <a:latin typeface="Aptos"/>
              </a:defRPr>
            </a:pPr>
            <a:r>
              <a:t>https://machine-learning-project-u8yovshrqrc5tm5s2y2qto.streamlit.app/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E9EDF5"/>
                </a:solidFill>
                <a:latin typeface="Aptos"/>
              </a:defRPr>
            </a:pPr>
            <a:r>
              <a:t>Kesimpulan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106424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AB4C8"/>
                </a:solidFill>
                <a:latin typeface="Aptos"/>
              </a:defRPr>
            </a:pPr>
            <a:r>
              <a:t>Model terukur, aplikasi berjalan, hasil bisa direproduksi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83096"/>
            <a:ext cx="110642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AB4C8"/>
                </a:solidFill>
                <a:latin typeface="Aptos"/>
              </a:defRPr>
            </a:pPr>
            <a:r>
              <a:t>ML 2026  •  B2  •  Kelompok 12                                     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10972800" cy="43891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E9EDF5"/>
                </a:solidFill>
                <a:latin typeface="Aptos"/>
              </a:defRPr>
            </a:pPr>
            <a:r>
              <a:t>• LR dipilih berdasarkan CV-F1 training tertinggi (0,6304).</a:t>
            </a:r>
          </a:p>
          <a:p>
            <a:pPr>
              <a:spcAft>
                <a:spcPts val="1000"/>
              </a:spcAft>
              <a:defRPr sz="2200" b="0">
                <a:solidFill>
                  <a:srgbClr val="E9EDF5"/>
                </a:solidFill>
                <a:latin typeface="Aptos"/>
              </a:defRPr>
            </a:pPr>
            <a:r>
              <a:t>• Konfigurasi aplikasi: sigmoid calibration + threshold 0,32 train-only.</a:t>
            </a:r>
          </a:p>
          <a:p>
            <a:pPr>
              <a:spcAft>
                <a:spcPts val="1000"/>
              </a:spcAft>
              <a:defRPr sz="2200" b="0">
                <a:solidFill>
                  <a:srgbClr val="E9EDF5"/>
                </a:solidFill>
                <a:latin typeface="Aptos"/>
              </a:defRPr>
            </a:pPr>
            <a:r>
              <a:t>• Test aplikasi: accuracy 75,69%; precision 53,09%; recall 73,53%; F1 0,6166.</a:t>
            </a:r>
          </a:p>
          <a:p>
            <a:pPr>
              <a:spcAft>
                <a:spcPts val="1000"/>
              </a:spcAft>
              <a:defRPr sz="2200" b="0">
                <a:solidFill>
                  <a:srgbClr val="E9EDF5"/>
                </a:solidFill>
                <a:latin typeface="Aptos"/>
              </a:defRPr>
            </a:pPr>
            <a:r>
              <a:t>• 275 dari 374 churn terdeteksi; 99 terlewat dan 243 false alarm.</a:t>
            </a:r>
          </a:p>
          <a:p>
            <a:pPr>
              <a:spcAft>
                <a:spcPts val="1000"/>
              </a:spcAft>
              <a:defRPr sz="2200" b="0">
                <a:solidFill>
                  <a:srgbClr val="E9EDF5"/>
                </a:solidFill>
                <a:latin typeface="Aptos"/>
              </a:defRPr>
            </a:pPr>
            <a:r>
              <a:t>• Nilai tambah: probabilitas konsisten, validasi input, batch CSV, dan dashboard evaluasi.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E9EDF5"/>
                </a:solidFill>
                <a:latin typeface="Aptos"/>
              </a:defRPr>
            </a:pPr>
            <a:r>
              <a:t>Keterbatasan &amp; pengembangan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106424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AB4C8"/>
                </a:solidFill>
                <a:latin typeface="Aptos"/>
              </a:defRPr>
            </a:pPr>
            <a:r>
              <a:t>Kesimpulan disesuaikan dengan bukti yang tersedia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83096"/>
            <a:ext cx="110642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AB4C8"/>
                </a:solidFill>
                <a:latin typeface="Aptos"/>
              </a:defRPr>
            </a:pPr>
            <a:r>
              <a:t>ML 2026  •  B2  •  Kelompok 12                                      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768096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Keterbatasan</a:t>
                      </a:r>
                    </a:p>
                  </a:txBody>
                  <a:tcPr marL="91440" marR="91440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Pengembangan</a:t>
                      </a:r>
                    </a:p>
                  </a:txBody>
                  <a:tcPr marL="91440" marR="91440">
                    <a:solidFill>
                      <a:srgbClr val="7C3AED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Dataset historis tunggal; pelanggan tenure 0 dieksklusi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Validasi eksternal/temporal dan uji cohort pelanggan baru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Profil identik lintas split; fitur TotalCharges dibuang tanpa ablation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Group-aware split; ablation fitur; laporkan perubahan performa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RF overfit; FP/FN masih cukup besar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Regularisasi/tuning; alternatif boosting; threshold berbasis biaya nyata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Retensi berbasis aturan; belum diuji efektivitasnya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SHAP dan eksperimen tindakan retensi; monitoring drift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E9EDF5"/>
                </a:solidFill>
                <a:latin typeface="Aptos"/>
              </a:defRPr>
            </a:pPr>
            <a:r>
              <a:t>Pembagian tugas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106424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AB4C8"/>
                </a:solidFill>
                <a:latin typeface="Aptos"/>
              </a:defRPr>
            </a:pPr>
            <a:r>
              <a:t>Diisi oleh anggota sesuai pengerjaan aktual — tanpa asumsi peran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83096"/>
            <a:ext cx="110642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AB4C8"/>
                </a:solidFill>
                <a:latin typeface="Aptos"/>
              </a:defRPr>
            </a:pPr>
            <a:r>
              <a:t>ML 2026  •  B2  •  Kelompok 12                                      27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11064239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7623"/>
                <a:gridCol w="2766060"/>
                <a:gridCol w="3540556"/>
              </a:tblGrid>
              <a:tr h="75438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Anggota</a:t>
                      </a:r>
                    </a:p>
                  </a:txBody>
                  <a:tcPr marL="91440" marR="91440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NIM</a:t>
                      </a:r>
                    </a:p>
                  </a:txBody>
                  <a:tcPr marL="91440" marR="91440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Tugas aktual</a:t>
                      </a:r>
                    </a:p>
                  </a:txBody>
                  <a:tcPr marL="91440" marR="91440">
                    <a:solidFill>
                      <a:srgbClr val="7C3AED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Muhamad Akhdan Ramadhan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J0404241102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[Isi sendiri]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Thevan Erlangga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J0404241073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[Isi sendiri]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Fachri Abyasa Tarid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J0404241136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9EDF5"/>
                          </a:solidFill>
                          <a:latin typeface="Aptos"/>
                        </a:defRPr>
                      </a:pPr>
                      <a:r>
                        <a:t>[Isi sendiri]</a:t>
                      </a:r>
                    </a:p>
                  </a:txBody>
                  <a:tcPr marL="91440" marR="91440">
                    <a:solidFill>
                      <a:srgbClr val="141B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212080"/>
            <a:ext cx="1097280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AAB4C8"/>
                </a:solidFill>
                <a:latin typeface="Aptos"/>
              </a:defRPr>
            </a:pPr>
            <a:r>
              <a:t>Seluruh anggota wajib memahami konsep, dataset, preprocessing, algoritma, evaluasi, dan aplikasi.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E9EDF5"/>
                </a:solidFill>
                <a:latin typeface="Aptos"/>
              </a:defRPr>
            </a:pPr>
            <a:r>
              <a:t>Referensi jurnal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106424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AB4C8"/>
                </a:solidFill>
                <a:latin typeface="Aptos"/>
              </a:defRPr>
            </a:pPr>
            <a:r>
              <a:t>DOI dan teks lengkap tersedia di docs/STUDI_LITERATUR.md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83096"/>
            <a:ext cx="110642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AB4C8"/>
                </a:solidFill>
                <a:latin typeface="Aptos"/>
              </a:defRPr>
            </a:pPr>
            <a:r>
              <a:t>ML 2026  •  B2  •  Kelompok 12                                     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E9EDF5"/>
                </a:solidFill>
                <a:latin typeface="Aptos"/>
              </a:defRPr>
            </a:pPr>
            <a:r>
              <a:t>[1] Sana et al. (2022) — PLOS ONE</a:t>
            </a:r>
          </a:p>
          <a:p>
            <a:pPr>
              <a:spcAft>
                <a:spcPts val="1000"/>
              </a:spcAft>
              <a:defRPr sz="1800" b="0">
                <a:solidFill>
                  <a:srgbClr val="E9EDF5"/>
                </a:solidFill>
                <a:latin typeface="Aptos"/>
              </a:defRPr>
            </a:pPr>
            <a:r>
              <a:t>10.1371/journal.pone.0278095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1097280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E9EDF5"/>
                </a:solidFill>
                <a:latin typeface="Aptos"/>
              </a:defRPr>
            </a:pPr>
            <a:r>
              <a:t>[2] Y., Ly &amp; Son (2022) — PLOS ONE</a:t>
            </a:r>
          </a:p>
          <a:p>
            <a:pPr>
              <a:spcAft>
                <a:spcPts val="1000"/>
              </a:spcAft>
              <a:defRPr sz="1800" b="0">
                <a:solidFill>
                  <a:srgbClr val="E9EDF5"/>
                </a:solidFill>
                <a:latin typeface="Aptos"/>
              </a:defRPr>
            </a:pPr>
            <a:r>
              <a:t>10.1371/journal.pone.0267935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E9EDF5"/>
                </a:solidFill>
                <a:latin typeface="Aptos"/>
              </a:defRPr>
            </a:pPr>
            <a:r>
              <a:t>[3] Bilal et al. (2022) — PeerJ Computer Science</a:t>
            </a:r>
          </a:p>
          <a:p>
            <a:pPr>
              <a:spcAft>
                <a:spcPts val="1000"/>
              </a:spcAft>
              <a:defRPr sz="1800" b="0">
                <a:solidFill>
                  <a:srgbClr val="E9EDF5"/>
                </a:solidFill>
                <a:latin typeface="Aptos"/>
              </a:defRPr>
            </a:pPr>
            <a:r>
              <a:t>10.7717/peerj-cs.854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1097280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E9EDF5"/>
                </a:solidFill>
                <a:latin typeface="Aptos"/>
              </a:defRPr>
            </a:pPr>
            <a:r>
              <a:t>[4] Zhou et al. (2023) — PLOS ONE</a:t>
            </a:r>
          </a:p>
          <a:p>
            <a:pPr>
              <a:spcAft>
                <a:spcPts val="1000"/>
              </a:spcAft>
              <a:defRPr sz="1800" b="0">
                <a:solidFill>
                  <a:srgbClr val="E9EDF5"/>
                </a:solidFill>
                <a:latin typeface="Aptos"/>
              </a:defRPr>
            </a:pPr>
            <a:r>
              <a:t>10.1371/journal.pone.0292466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1097280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E9EDF5"/>
                </a:solidFill>
                <a:latin typeface="Aptos"/>
              </a:defRPr>
            </a:pPr>
            <a:r>
              <a:t>[5] Khattak et al. (2023) — Scientific Reports</a:t>
            </a:r>
          </a:p>
          <a:p>
            <a:pPr>
              <a:spcAft>
                <a:spcPts val="1000"/>
              </a:spcAft>
              <a:defRPr sz="1800" b="0">
                <a:solidFill>
                  <a:srgbClr val="E9EDF5"/>
                </a:solidFill>
                <a:latin typeface="Aptos"/>
              </a:defRPr>
            </a:pPr>
            <a:r>
              <a:t>10.1038/s41598-023-44396-w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E9EDF5"/>
                </a:solidFill>
                <a:latin typeface="Aptos"/>
              </a:defRPr>
            </a:pPr>
            <a:r>
              <a:t>Source code &amp; berkas pengumpulan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106424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AB4C8"/>
                </a:solidFill>
                <a:latin typeface="Aptos"/>
              </a:defRPr>
            </a:pPr>
            <a:r>
              <a:t>Format folder: ML2026_B2_Kelompok12_PrediksiCustomerChurn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83096"/>
            <a:ext cx="110642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AB4C8"/>
                </a:solidFill>
                <a:latin typeface="Aptos"/>
              </a:defRPr>
            </a:pPr>
            <a:r>
              <a:t>ML 2026  •  B2  •  Kelompok 12                                      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10972800" cy="43891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E9EDF5"/>
                </a:solidFill>
                <a:latin typeface="Aptos"/>
              </a:defRPr>
            </a:pPr>
            <a:r>
              <a:t>• PPT: docs/ML2026_B2_Kelompok12_PrediksiCustomerChurn.pptx</a:t>
            </a:r>
          </a:p>
          <a:p>
            <a:pPr>
              <a:spcAft>
                <a:spcPts val="1000"/>
              </a:spcAft>
              <a:defRPr sz="2100" b="0">
                <a:solidFill>
                  <a:srgbClr val="E9EDF5"/>
                </a:solidFill>
                <a:latin typeface="Aptos"/>
              </a:defRPr>
            </a:pPr>
            <a:r>
              <a:t>• EDA: docs/eda/EDA.md • notebook: projekk.ipynb</a:t>
            </a:r>
          </a:p>
          <a:p>
            <a:pPr>
              <a:spcAft>
                <a:spcPts val="1000"/>
              </a:spcAft>
              <a:defRPr sz="2100" b="0">
                <a:solidFill>
                  <a:srgbClr val="E9EDF5"/>
                </a:solidFill>
                <a:latin typeface="Aptos"/>
              </a:defRPr>
            </a:pPr>
            <a:r>
              <a:t>• Lima jurnal &amp; tabel: docs/STUDI_LITERATUR.md • docs/jurnal/</a:t>
            </a:r>
          </a:p>
          <a:p>
            <a:pPr>
              <a:spcAft>
                <a:spcPts val="1000"/>
              </a:spcAft>
              <a:defRPr sz="2100" b="0">
                <a:solidFill>
                  <a:srgbClr val="E9EDF5"/>
                </a:solidFill>
                <a:latin typeface="Aptos"/>
              </a:defRPr>
            </a:pPr>
            <a:r>
              <a:t>• Naskah demo ≤7 menit: docs/NASKAH_VIDEO_DEMO.md</a:t>
            </a:r>
          </a:p>
          <a:p>
            <a:pPr>
              <a:spcAft>
                <a:spcPts val="1000"/>
              </a:spcAft>
              <a:defRPr sz="2100" b="0">
                <a:solidFill>
                  <a:srgbClr val="E9EDF5"/>
                </a:solidFill>
                <a:latin typeface="Aptos"/>
              </a:defRPr>
            </a:pPr>
            <a:r>
              <a:t>• Pembagian tugas: isi pada slide 27; video asli direkam anggota.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623560"/>
            <a:ext cx="10972800" cy="6400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60A5FA"/>
                </a:solidFill>
                <a:latin typeface="Aptos"/>
              </a:defRPr>
            </a:pPr>
            <a:r>
              <a:t>Repository: https://github.com/makhdanramadhan-ui/Machine-Learning-Project</a:t>
            </a:r>
          </a:p>
          <a:p>
            <a:pPr>
              <a:spcAft>
                <a:spcPts val="1000"/>
              </a:spcAft>
              <a:defRPr sz="1300" b="0">
                <a:solidFill>
                  <a:srgbClr val="60A5FA"/>
                </a:solidFill>
                <a:latin typeface="Aptos"/>
              </a:defRPr>
            </a:pPr>
            <a:r>
              <a:t>https://machine-learning-project-u8yovshrqrc5tm5s2y2qto.streamlit.app/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Prediksi Customer Churn — Telco</dc:title>
  <dc:subject/>
  <dc:creator>Kelompok 12 — Kelas B2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