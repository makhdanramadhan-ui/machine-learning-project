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Perkenalkan seluruh anggota. Judul project, Kelompok 12 Kelas B2. Buka aplikasi live pada bagian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Latar belakang &amp; rumusan masalah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Tujuan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Studi literatur — metode &amp; evaluasi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Studi literatur — early warning &amp; pengembangan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&amp; target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Pemeriksaan kualitas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Setelah data dibersihkan, sekitar 73,4% pelanggan tidak churn dan 26,6% churn. Jumlah kedua kelompok tidak seimbang. Karena itu, akurasi perlu dilihat bersama precision, recall, dan F1 agar kemampuan mendeteksi churn tidak terlewat.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Tenure menunjukkan lama berlangganan, dari pelanggan baru hingga 72 bulan. Tagihan bulanan tersebar dalam beberapa kelompok, sedangkan total tagihan banyak berada pada nilai rendah. StandardScaler menyamakan skala fitur angka untuk Logistic Regression, bukan membuat distribusinya menjadi normal.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Pada data training, median lama berlangganan pelanggan churn adalah 10 bulan, sedangkan pelanggan tidak churn 38 bulan. Median tagihannya masing-masing $79.90 dan $64.68. Pola ini belum membuktikan sebab-akibat. Titik outlier pada boxplot dihitung per kelompok, berbeda dari tabel IQR yang memeriksa seluruh data sekaligus.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Pada data training, 43.1% pelanggan kontrak bulanan churn, dibanding 2.9% pada kontrak dua tahun. Persentase churn juga berbeda menurut layanan internet dan cara pembayaran. Ini membantu mengenali pola pelanggan, tetapi belum membuktikan bahwa mengganti kontrak atau metode pembayaran akan mencegah churn.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 korelasi &amp; pilihan fitur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Preprocessing &amp; pencegahan leakage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Tiga algoritma &amp; alasan pemilihan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validation &amp; parameter terbaik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Evaluasi &amp; perbandingan model inti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Analisis model &amp;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Kalibrasi &amp; pemilihan threshold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Evaluasi konfigurasi aplikasi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matrix &amp; kesalahan prediksi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ROC &amp; kualitas probabilitas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Interpretasi fitur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Arsitektur &amp; implementasi aplikasi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Gunakan template_pelanggan.csv. Klik Prediksi untuk contoh pelanggan, upload batch, unduh hasil, lalu upload CSV salah untuk menunjukkan validasi.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Kesimpulan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Keterbatasan &amp; pengembangan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Pembagian tugas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Referensi jurnal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code &amp; berkas pengumpulan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Prediksi Customer Churn — Telco</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Perbandingan tiga model dan aplikasi Streamlit terkalibrasi</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01</a:t>
            </a:r>
          </a:p>
        </p:txBody>
      </p:sp>
      <p:sp>
        <p:nvSpPr>
          <p:cNvPr id="6" name="TextBox 5"/>
          <p:cNvSpPr txBox="1"/>
          <p:nvPr/>
        </p:nvSpPr>
        <p:spPr>
          <a:xfrm>
            <a:off x="640080" y="1828800"/>
            <a:ext cx="10058400" cy="457200"/>
          </a:xfrm>
          <a:prstGeom prst="rect">
            <a:avLst/>
          </a:prstGeom>
          <a:noFill/>
        </p:spPr>
        <p:txBody>
          <a:bodyPr wrap="square" lIns="18288" rIns="18288" tIns="0" bIns="0">
            <a:spAutoFit/>
          </a:bodyPr>
          <a:lstStyle/>
          <a:p>
            <a:pPr>
              <a:spcAft>
                <a:spcPts val="1000"/>
              </a:spcAft>
              <a:defRPr sz="2100" b="1">
                <a:solidFill>
                  <a:srgbClr val="A78BFA"/>
                </a:solidFill>
                <a:latin typeface="Aptos"/>
              </a:defRPr>
            </a:pPr>
            <a:r>
              <a:t>KELOMPOK 12  /  KELAS B2</a:t>
            </a:r>
          </a:p>
        </p:txBody>
      </p:sp>
      <p:sp>
        <p:nvSpPr>
          <p:cNvPr id="7" name="TextBox 6"/>
          <p:cNvSpPr txBox="1"/>
          <p:nvPr/>
        </p:nvSpPr>
        <p:spPr>
          <a:xfrm>
            <a:off x="640080" y="2606040"/>
            <a:ext cx="10789920" cy="1828800"/>
          </a:xfrm>
          <a:prstGeom prst="rect">
            <a:avLst/>
          </a:prstGeom>
          <a:noFill/>
        </p:spPr>
        <p:txBody>
          <a:bodyPr wrap="square" lIns="18288" rIns="18288" tIns="0" bIns="0">
            <a:spAutoFit/>
          </a:bodyPr>
          <a:lstStyle/>
          <a:p>
            <a:pPr>
              <a:spcAft>
                <a:spcPts val="1000"/>
              </a:spcAft>
              <a:defRPr sz="2500" b="0">
                <a:solidFill>
                  <a:srgbClr val="E9EDF5"/>
                </a:solidFill>
                <a:latin typeface="Aptos"/>
              </a:defRPr>
            </a:pPr>
            <a:r>
              <a:t>Muhamad Akhdan Ramadhan  —  J0404241102</a:t>
            </a:r>
          </a:p>
          <a:p>
            <a:pPr>
              <a:spcAft>
                <a:spcPts val="1000"/>
              </a:spcAft>
              <a:defRPr sz="2500" b="0">
                <a:solidFill>
                  <a:srgbClr val="E9EDF5"/>
                </a:solidFill>
                <a:latin typeface="Aptos"/>
              </a:defRPr>
            </a:pPr>
            <a:r>
              <a:t>Thevan Erlangga  —  J0404241073</a:t>
            </a:r>
          </a:p>
          <a:p>
            <a:pPr>
              <a:spcAft>
                <a:spcPts val="1000"/>
              </a:spcAft>
              <a:defRPr sz="2500" b="0">
                <a:solidFill>
                  <a:srgbClr val="E9EDF5"/>
                </a:solidFill>
                <a:latin typeface="Aptos"/>
              </a:defRPr>
            </a:pPr>
            <a:r>
              <a:t>Fachri Abyasa Tarid  —  J0404241136</a:t>
            </a:r>
          </a:p>
        </p:txBody>
      </p:sp>
      <p:sp>
        <p:nvSpPr>
          <p:cNvPr id="8" name="TextBox 7"/>
          <p:cNvSpPr txBox="1"/>
          <p:nvPr/>
        </p:nvSpPr>
        <p:spPr>
          <a:xfrm>
            <a:off x="640080" y="5303520"/>
            <a:ext cx="10789920" cy="457200"/>
          </a:xfrm>
          <a:prstGeom prst="rect">
            <a:avLst/>
          </a:prstGeom>
          <a:noFill/>
        </p:spPr>
        <p:txBody>
          <a:bodyPr wrap="square" lIns="18288" rIns="18288" tIns="0" bIns="0">
            <a:spAutoFit/>
          </a:bodyPr>
          <a:lstStyle/>
          <a:p>
            <a:pPr>
              <a:spcAft>
                <a:spcPts val="1000"/>
              </a:spcAft>
              <a:defRPr sz="1800" b="0">
                <a:solidFill>
                  <a:srgbClr val="AAB4C8"/>
                </a:solidFill>
                <a:latin typeface="Aptos"/>
              </a:defRPr>
            </a:pPr>
            <a:r>
              <a:t>Mata Kuliah Pembelajaran Mesin • Project Akhir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Latar belakang &amp; rumusan masalah</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Churn = pelanggan berhenti berlangganan</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02</a:t>
            </a:r>
          </a:p>
        </p:txBody>
      </p:sp>
      <p:sp>
        <p:nvSpPr>
          <p:cNvPr id="6" name="TextBox 5"/>
          <p:cNvSpPr txBox="1"/>
          <p:nvPr/>
        </p:nvSpPr>
        <p:spPr>
          <a:xfrm>
            <a:off x="594360" y="1691640"/>
            <a:ext cx="10972800" cy="4389120"/>
          </a:xfrm>
          <a:prstGeom prst="rect">
            <a:avLst/>
          </a:prstGeom>
          <a:noFill/>
        </p:spPr>
        <p:txBody>
          <a:bodyPr wrap="square" lIns="18288" rIns="18288" tIns="0" bIns="0">
            <a:spAutoFit/>
          </a:bodyPr>
          <a:lstStyle/>
          <a:p>
            <a:pPr>
              <a:spcAft>
                <a:spcPts val="1000"/>
              </a:spcAft>
              <a:defRPr sz="2200" b="0">
                <a:solidFill>
                  <a:srgbClr val="E9EDF5"/>
                </a:solidFill>
                <a:latin typeface="Aptos"/>
              </a:defRPr>
            </a:pPr>
            <a:r>
              <a:t>• Pelanggan memiliki profil kontrak, layanan, dan pembayaran yang berbeda.</a:t>
            </a:r>
          </a:p>
          <a:p>
            <a:pPr>
              <a:spcAft>
                <a:spcPts val="1000"/>
              </a:spcAft>
              <a:defRPr sz="2200" b="0">
                <a:solidFill>
                  <a:srgbClr val="E9EDF5"/>
                </a:solidFill>
                <a:latin typeface="Aptos"/>
              </a:defRPr>
            </a:pPr>
            <a:r>
              <a:t>• Identifikasi risiko membantu menentukan prioritas tindak lanjut retensi [1, 4].</a:t>
            </a:r>
          </a:p>
          <a:p>
            <a:pPr>
              <a:spcAft>
                <a:spcPts val="1000"/>
              </a:spcAft>
              <a:defRPr sz="2200" b="0">
                <a:solidFill>
                  <a:srgbClr val="E9EDF5"/>
                </a:solidFill>
                <a:latin typeface="Aptos"/>
              </a:defRPr>
            </a:pPr>
            <a:r>
              <a:t>• Masalah: bagaimana memprediksi churn dari data pelanggan secara terukur?</a:t>
            </a:r>
          </a:p>
          <a:p>
            <a:pPr>
              <a:spcAft>
                <a:spcPts val="1000"/>
              </a:spcAft>
              <a:defRPr sz="2200" b="0">
                <a:solidFill>
                  <a:srgbClr val="E9EDF5"/>
                </a:solidFill>
                <a:latin typeface="Aptos"/>
              </a:defRPr>
            </a:pPr>
            <a:r>
              <a:t>• Tantangan: kelas churn minoritas dan biaya false alarm / churn terlewat berbeda.</a:t>
            </a:r>
          </a:p>
          <a:p>
            <a:pPr>
              <a:spcAft>
                <a:spcPts val="1000"/>
              </a:spcAft>
              <a:defRPr sz="2200" b="0">
                <a:solidFill>
                  <a:srgbClr val="E9EDF5"/>
                </a:solidFill>
                <a:latin typeface="Aptos"/>
              </a:defRPr>
            </a:pPr>
            <a:r>
              <a:t>• Prediksi risiko belum membuktikan efektivitas tindakan retensi.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Tujuan project</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Klasifikasi supervised tabular, bukan forecasting</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03</a:t>
            </a:r>
          </a:p>
        </p:txBody>
      </p:sp>
      <p:sp>
        <p:nvSpPr>
          <p:cNvPr id="6" name="TextBox 5"/>
          <p:cNvSpPr txBox="1"/>
          <p:nvPr/>
        </p:nvSpPr>
        <p:spPr>
          <a:xfrm>
            <a:off x="594360" y="1691640"/>
            <a:ext cx="10972800" cy="4389120"/>
          </a:xfrm>
          <a:prstGeom prst="rect">
            <a:avLst/>
          </a:prstGeom>
          <a:noFill/>
        </p:spPr>
        <p:txBody>
          <a:bodyPr wrap="square" lIns="18288" rIns="18288" tIns="0" bIns="0">
            <a:spAutoFit/>
          </a:bodyPr>
          <a:lstStyle/>
          <a:p>
            <a:pPr>
              <a:spcAft>
                <a:spcPts val="1000"/>
              </a:spcAft>
              <a:defRPr sz="2200" b="0">
                <a:solidFill>
                  <a:srgbClr val="E9EDF5"/>
                </a:solidFill>
                <a:latin typeface="Aptos"/>
              </a:defRPr>
            </a:pPr>
            <a:r>
              <a:t>• Memahami dataset melalui EDA dan preprocessing yang sesuai.</a:t>
            </a:r>
          </a:p>
          <a:p>
            <a:pPr>
              <a:spcAft>
                <a:spcPts val="1000"/>
              </a:spcAft>
              <a:defRPr sz="2200" b="0">
                <a:solidFill>
                  <a:srgbClr val="E9EDF5"/>
                </a:solidFill>
                <a:latin typeface="Aptos"/>
              </a:defRPr>
            </a:pPr>
            <a:r>
              <a:t>• Membandingkan Logistic Regression, Decision Tree, dan Random Forest.</a:t>
            </a:r>
          </a:p>
          <a:p>
            <a:pPr>
              <a:spcAft>
                <a:spcPts val="1000"/>
              </a:spcAft>
              <a:defRPr sz="2200" b="0">
                <a:solidFill>
                  <a:srgbClr val="E9EDF5"/>
                </a:solidFill>
                <a:latin typeface="Aptos"/>
              </a:defRPr>
            </a:pPr>
            <a:r>
              <a:t>• Memilih model inti melalui validation CV-F1 pada data training.</a:t>
            </a:r>
          </a:p>
          <a:p>
            <a:pPr>
              <a:spcAft>
                <a:spcPts val="1000"/>
              </a:spcAft>
              <a:defRPr sz="2200" b="0">
                <a:solidFill>
                  <a:srgbClr val="E9EDF5"/>
                </a:solidFill>
                <a:latin typeface="Aptos"/>
              </a:defRPr>
            </a:pPr>
            <a:r>
              <a:t>• Menghasilkan probabilitas terkalibrasi dan keputusan dengan threshold train-only.</a:t>
            </a:r>
          </a:p>
          <a:p>
            <a:pPr>
              <a:spcAft>
                <a:spcPts val="1000"/>
              </a:spcAft>
              <a:defRPr sz="2200" b="0">
                <a:solidFill>
                  <a:srgbClr val="E9EDF5"/>
                </a:solidFill>
                <a:latin typeface="Aptos"/>
              </a:defRPr>
            </a:pPr>
            <a:r>
              <a:t>• Menyediakan aplikasi single/batch CSV dengan validasi dan dashboard transparan.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Studi literatur — metode &amp; evaluasi</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Lima jurnal terverifikasi • ringkasan hasil penulis, bukan hasil project</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04</a:t>
            </a:r>
          </a:p>
        </p:txBody>
      </p:sp>
      <p:graphicFrame>
        <p:nvGraphicFramePr>
          <p:cNvPr id="6" name="Table 5"/>
          <p:cNvGraphicFramePr>
            <a:graphicFrameLocks noGrp="1"/>
          </p:cNvGraphicFramePr>
          <p:nvPr/>
        </p:nvGraphicFramePr>
        <p:xfrm>
          <a:off x="548640" y="1691640"/>
          <a:ext cx="11064238" cy="3291840"/>
        </p:xfrm>
        <a:graphic>
          <a:graphicData uri="http://schemas.openxmlformats.org/drawingml/2006/table">
            <a:tbl>
              <a:tblPr firstRow="1" bandRow="1">
                <a:tableStyleId>{5C22544A-7EE6-4342-B048-85BDC9FD1C3A}</a:tableStyleId>
              </a:tblPr>
              <a:tblGrid>
                <a:gridCol w="2434132"/>
                <a:gridCol w="2544775"/>
                <a:gridCol w="3097987"/>
                <a:gridCol w="2987344"/>
              </a:tblGrid>
              <a:tr h="822960">
                <a:tc>
                  <a:txBody>
                    <a:bodyPr/>
                    <a:lstStyle/>
                    <a:p>
                      <a:pPr>
                        <a:defRPr sz="1600" b="1">
                          <a:solidFill>
                            <a:srgbClr val="E9EDF5"/>
                          </a:solidFill>
                          <a:latin typeface="Aptos"/>
                        </a:defRPr>
                      </a:pPr>
                      <a:r>
                        <a:t>Referensi</a:t>
                      </a:r>
                    </a:p>
                  </a:txBody>
                  <a:tcPr marL="91440" marR="91440">
                    <a:solidFill>
                      <a:srgbClr val="7C3AED"/>
                    </a:solidFill>
                  </a:tcPr>
                </a:tc>
                <a:tc>
                  <a:txBody>
                    <a:bodyPr/>
                    <a:lstStyle/>
                    <a:p>
                      <a:pPr>
                        <a:defRPr sz="1600" b="1">
                          <a:solidFill>
                            <a:srgbClr val="E9EDF5"/>
                          </a:solidFill>
                          <a:latin typeface="Aptos"/>
                        </a:defRPr>
                      </a:pPr>
                      <a:r>
                        <a:t>Dataset</a:t>
                      </a:r>
                    </a:p>
                  </a:txBody>
                  <a:tcPr marL="91440" marR="91440">
                    <a:solidFill>
                      <a:srgbClr val="7C3AED"/>
                    </a:solidFill>
                  </a:tcPr>
                </a:tc>
                <a:tc>
                  <a:txBody>
                    <a:bodyPr/>
                    <a:lstStyle/>
                    <a:p>
                      <a:pPr>
                        <a:defRPr sz="1600" b="1">
                          <a:solidFill>
                            <a:srgbClr val="E9EDF5"/>
                          </a:solidFill>
                          <a:latin typeface="Aptos"/>
                        </a:defRPr>
                      </a:pPr>
                      <a:r>
                        <a:t>Metode</a:t>
                      </a:r>
                    </a:p>
                  </a:txBody>
                  <a:tcPr marL="91440" marR="91440">
                    <a:solidFill>
                      <a:srgbClr val="7C3AED"/>
                    </a:solidFill>
                  </a:tcPr>
                </a:tc>
                <a:tc>
                  <a:txBody>
                    <a:bodyPr/>
                    <a:lstStyle/>
                    <a:p>
                      <a:pPr>
                        <a:defRPr sz="1600" b="1">
                          <a:solidFill>
                            <a:srgbClr val="E9EDF5"/>
                          </a:solidFill>
                          <a:latin typeface="Aptos"/>
                        </a:defRPr>
                      </a:pPr>
                      <a:r>
                        <a:t>Hasil utama</a:t>
                      </a:r>
                    </a:p>
                  </a:txBody>
                  <a:tcPr marL="91440" marR="91440">
                    <a:solidFill>
                      <a:srgbClr val="7C3AED"/>
                    </a:solidFill>
                  </a:tcPr>
                </a:tc>
              </a:tr>
              <a:tr h="822960">
                <a:tc>
                  <a:txBody>
                    <a:bodyPr/>
                    <a:lstStyle/>
                    <a:p>
                      <a:pPr>
                        <a:defRPr sz="1600" b="0">
                          <a:solidFill>
                            <a:srgbClr val="E9EDF5"/>
                          </a:solidFill>
                          <a:latin typeface="Aptos"/>
                        </a:defRPr>
                      </a:pPr>
                      <a:r>
                        <a:t>[1] Sana et al. (2022)</a:t>
                      </a:r>
                    </a:p>
                  </a:txBody>
                  <a:tcPr marL="91440" marR="91440">
                    <a:solidFill>
                      <a:srgbClr val="141B2E"/>
                    </a:solidFill>
                  </a:tcPr>
                </a:tc>
                <a:tc>
                  <a:txBody>
                    <a:bodyPr/>
                    <a:lstStyle/>
                    <a:p>
                      <a:pPr>
                        <a:defRPr sz="1600" b="0">
                          <a:solidFill>
                            <a:srgbClr val="E9EDF5"/>
                          </a:solidFill>
                          <a:latin typeface="Aptos"/>
                        </a:defRPr>
                      </a:pPr>
                      <a:r>
                        <a:t>4 dataset; termasuk Telco 7.043</a:t>
                      </a:r>
                    </a:p>
                  </a:txBody>
                  <a:tcPr marL="91440" marR="91440">
                    <a:solidFill>
                      <a:srgbClr val="141B2E"/>
                    </a:solidFill>
                  </a:tcPr>
                </a:tc>
                <a:tc>
                  <a:txBody>
                    <a:bodyPr/>
                    <a:lstStyle/>
                    <a:p>
                      <a:pPr>
                        <a:defRPr sz="1600" b="0">
                          <a:solidFill>
                            <a:srgbClr val="E9EDF5"/>
                          </a:solidFill>
                          <a:latin typeface="Aptos"/>
                        </a:defRPr>
                      </a:pPr>
                      <a:r>
                        <a:t>8 model; transformasi + feature selection + grid search</a:t>
                      </a:r>
                    </a:p>
                  </a:txBody>
                  <a:tcPr marL="91440" marR="91440">
                    <a:solidFill>
                      <a:srgbClr val="141B2E"/>
                    </a:solidFill>
                  </a:tcPr>
                </a:tc>
                <a:tc>
                  <a:txBody>
                    <a:bodyPr/>
                    <a:lstStyle/>
                    <a:p>
                      <a:pPr>
                        <a:defRPr sz="1600" b="0">
                          <a:solidFill>
                            <a:srgbClr val="E9EDF5"/>
                          </a:solidFill>
                          <a:latin typeface="Aptos"/>
                        </a:defRPr>
                      </a:pPr>
                      <a:r>
                        <a:t>WOE+LR: AUC 0,796 / F1 0,79 (Dataset-1)</a:t>
                      </a:r>
                    </a:p>
                  </a:txBody>
                  <a:tcPr marL="91440" marR="91440">
                    <a:solidFill>
                      <a:srgbClr val="141B2E"/>
                    </a:solidFill>
                  </a:tcPr>
                </a:tc>
              </a:tr>
              <a:tr h="822960">
                <a:tc>
                  <a:txBody>
                    <a:bodyPr/>
                    <a:lstStyle/>
                    <a:p>
                      <a:pPr>
                        <a:defRPr sz="1600" b="0">
                          <a:solidFill>
                            <a:srgbClr val="E9EDF5"/>
                          </a:solidFill>
                          <a:latin typeface="Aptos"/>
                        </a:defRPr>
                      </a:pPr>
                      <a:r>
                        <a:t>[2] Y., Ly &amp; Son (2022)</a:t>
                      </a:r>
                    </a:p>
                  </a:txBody>
                  <a:tcPr marL="91440" marR="91440">
                    <a:solidFill>
                      <a:srgbClr val="141B2E"/>
                    </a:solidFill>
                  </a:tcPr>
                </a:tc>
                <a:tc>
                  <a:txBody>
                    <a:bodyPr/>
                    <a:lstStyle/>
                    <a:p>
                      <a:pPr>
                        <a:defRPr sz="1600" b="0">
                          <a:solidFill>
                            <a:srgbClr val="E9EDF5"/>
                          </a:solidFill>
                          <a:latin typeface="Aptos"/>
                        </a:defRPr>
                      </a:pPr>
                      <a:r>
                        <a:t>Orange 3.333</a:t>
                      </a:r>
                    </a:p>
                  </a:txBody>
                  <a:tcPr marL="91440" marR="91440">
                    <a:solidFill>
                      <a:srgbClr val="141B2E"/>
                    </a:solidFill>
                  </a:tcPr>
                </a:tc>
                <a:tc>
                  <a:txBody>
                    <a:bodyPr/>
                    <a:lstStyle/>
                    <a:p>
                      <a:pPr>
                        <a:defRPr sz="1600" b="0">
                          <a:solidFill>
                            <a:srgbClr val="E9EDF5"/>
                          </a:solidFill>
                          <a:latin typeface="Aptos"/>
                        </a:defRPr>
                      </a:pPr>
                      <a:r>
                        <a:t>Kernel SVM + SFS/SBS + SMOTE-ENN</a:t>
                      </a:r>
                    </a:p>
                  </a:txBody>
                  <a:tcPr marL="91440" marR="91440">
                    <a:solidFill>
                      <a:srgbClr val="141B2E"/>
                    </a:solidFill>
                  </a:tcPr>
                </a:tc>
                <a:tc>
                  <a:txBody>
                    <a:bodyPr/>
                    <a:lstStyle/>
                    <a:p>
                      <a:pPr>
                        <a:defRPr sz="1600" b="0">
                          <a:solidFill>
                            <a:srgbClr val="E9EDF5"/>
                          </a:solidFill>
                          <a:latin typeface="Aptos"/>
                        </a:defRPr>
                      </a:pPr>
                      <a:r>
                        <a:t>Accuracy 0,9888 / F1 0,9901</a:t>
                      </a:r>
                    </a:p>
                  </a:txBody>
                  <a:tcPr marL="91440" marR="91440">
                    <a:solidFill>
                      <a:srgbClr val="141B2E"/>
                    </a:solidFill>
                  </a:tcPr>
                </a:tc>
              </a:tr>
              <a:tr h="822960">
                <a:tc>
                  <a:txBody>
                    <a:bodyPr/>
                    <a:lstStyle/>
                    <a:p>
                      <a:pPr>
                        <a:defRPr sz="1600" b="0">
                          <a:solidFill>
                            <a:srgbClr val="E9EDF5"/>
                          </a:solidFill>
                          <a:latin typeface="Aptos"/>
                        </a:defRPr>
                      </a:pPr>
                      <a:r>
                        <a:t>[3] Bilal et al. (2022)</a:t>
                      </a:r>
                    </a:p>
                  </a:txBody>
                  <a:tcPr marL="91440" marR="91440">
                    <a:solidFill>
                      <a:srgbClr val="141B2E"/>
                    </a:solidFill>
                  </a:tcPr>
                </a:tc>
                <a:tc>
                  <a:txBody>
                    <a:bodyPr/>
                    <a:lstStyle/>
                    <a:p>
                      <a:pPr>
                        <a:defRPr sz="1600" b="0">
                          <a:solidFill>
                            <a:srgbClr val="E9EDF5"/>
                          </a:solidFill>
                          <a:latin typeface="Aptos"/>
                        </a:defRPr>
                      </a:pPr>
                      <a:r>
                        <a:t>GitHub 5.000 / BigML 3.333</a:t>
                      </a:r>
                    </a:p>
                  </a:txBody>
                  <a:tcPr marL="91440" marR="91440">
                    <a:solidFill>
                      <a:srgbClr val="141B2E"/>
                    </a:solidFill>
                  </a:tcPr>
                </a:tc>
                <a:tc>
                  <a:txBody>
                    <a:bodyPr/>
                    <a:lstStyle/>
                    <a:p>
                      <a:pPr>
                        <a:defRPr sz="1600" b="0">
                          <a:solidFill>
                            <a:srgbClr val="E9EDF5"/>
                          </a:solidFill>
                          <a:latin typeface="Aptos"/>
                        </a:defRPr>
                      </a:pPr>
                      <a:r>
                        <a:t>Clustering + classifier ensemble</a:t>
                      </a:r>
                    </a:p>
                  </a:txBody>
                  <a:tcPr marL="91440" marR="91440">
                    <a:solidFill>
                      <a:srgbClr val="141B2E"/>
                    </a:solidFill>
                  </a:tcPr>
                </a:tc>
                <a:tc>
                  <a:txBody>
                    <a:bodyPr/>
                    <a:lstStyle/>
                    <a:p>
                      <a:pPr>
                        <a:defRPr sz="1600" b="0">
                          <a:solidFill>
                            <a:srgbClr val="E9EDF5"/>
                          </a:solidFill>
                          <a:latin typeface="Aptos"/>
                        </a:defRPr>
                      </a:pPr>
                      <a:r>
                        <a:t>Accuracy 94,7% / 92,43%</a:t>
                      </a:r>
                    </a:p>
                  </a:txBody>
                  <a:tcPr marL="91440" marR="91440">
                    <a:solidFill>
                      <a:srgbClr val="141B2E"/>
                    </a:solidFill>
                  </a:tcPr>
                </a:tc>
              </a:tr>
            </a:tbl>
          </a:graphicData>
        </a:graphic>
      </p:graphicFrame>
      <p:sp>
        <p:nvSpPr>
          <p:cNvPr id="7" name="TextBox 6"/>
          <p:cNvSpPr txBox="1"/>
          <p:nvPr/>
        </p:nvSpPr>
        <p:spPr>
          <a:xfrm>
            <a:off x="594360" y="5303520"/>
            <a:ext cx="10972800" cy="822960"/>
          </a:xfrm>
          <a:prstGeom prst="rect">
            <a:avLst/>
          </a:prstGeom>
          <a:noFill/>
        </p:spPr>
        <p:txBody>
          <a:bodyPr wrap="square" lIns="18288" rIns="18288" tIns="0" bIns="0">
            <a:spAutoFit/>
          </a:bodyPr>
          <a:lstStyle/>
          <a:p>
            <a:pPr>
              <a:spcAft>
                <a:spcPts val="1000"/>
              </a:spcAft>
              <a:defRPr sz="1800" b="0">
                <a:solidFill>
                  <a:srgbClr val="AAB4C8"/>
                </a:solidFill>
                <a:latin typeface="Aptos"/>
              </a:defRPr>
            </a:pPr>
            <a:r>
              <a:t>Project: 3 model tabular + pipeline train-only + sigmoid calibration + Streamlit. Skor jurnal tidak dibandingkan langsung karena dataset dan protokol berbeda.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Studi literatur — early warning &amp; pengembangan</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Lima jurnal terverifikasi • ringkasan hasil penulis, bukan hasil project</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05</a:t>
            </a:r>
          </a:p>
        </p:txBody>
      </p:sp>
      <p:graphicFrame>
        <p:nvGraphicFramePr>
          <p:cNvPr id="6" name="Table 5"/>
          <p:cNvGraphicFramePr>
            <a:graphicFrameLocks noGrp="1"/>
          </p:cNvGraphicFramePr>
          <p:nvPr/>
        </p:nvGraphicFramePr>
        <p:xfrm>
          <a:off x="548640" y="1691640"/>
          <a:ext cx="11064238" cy="3291840"/>
        </p:xfrm>
        <a:graphic>
          <a:graphicData uri="http://schemas.openxmlformats.org/drawingml/2006/table">
            <a:tbl>
              <a:tblPr firstRow="1" bandRow="1">
                <a:tableStyleId>{5C22544A-7EE6-4342-B048-85BDC9FD1C3A}</a:tableStyleId>
              </a:tblPr>
              <a:tblGrid>
                <a:gridCol w="2434132"/>
                <a:gridCol w="2544775"/>
                <a:gridCol w="3097987"/>
                <a:gridCol w="2987344"/>
              </a:tblGrid>
              <a:tr h="1097280">
                <a:tc>
                  <a:txBody>
                    <a:bodyPr/>
                    <a:lstStyle/>
                    <a:p>
                      <a:pPr>
                        <a:defRPr sz="1600" b="1">
                          <a:solidFill>
                            <a:srgbClr val="E9EDF5"/>
                          </a:solidFill>
                          <a:latin typeface="Aptos"/>
                        </a:defRPr>
                      </a:pPr>
                      <a:r>
                        <a:t>Referensi</a:t>
                      </a:r>
                    </a:p>
                  </a:txBody>
                  <a:tcPr marL="91440" marR="91440">
                    <a:solidFill>
                      <a:srgbClr val="7C3AED"/>
                    </a:solidFill>
                  </a:tcPr>
                </a:tc>
                <a:tc>
                  <a:txBody>
                    <a:bodyPr/>
                    <a:lstStyle/>
                    <a:p>
                      <a:pPr>
                        <a:defRPr sz="1600" b="1">
                          <a:solidFill>
                            <a:srgbClr val="E9EDF5"/>
                          </a:solidFill>
                          <a:latin typeface="Aptos"/>
                        </a:defRPr>
                      </a:pPr>
                      <a:r>
                        <a:t>Dataset</a:t>
                      </a:r>
                    </a:p>
                  </a:txBody>
                  <a:tcPr marL="91440" marR="91440">
                    <a:solidFill>
                      <a:srgbClr val="7C3AED"/>
                    </a:solidFill>
                  </a:tcPr>
                </a:tc>
                <a:tc>
                  <a:txBody>
                    <a:bodyPr/>
                    <a:lstStyle/>
                    <a:p>
                      <a:pPr>
                        <a:defRPr sz="1600" b="1">
                          <a:solidFill>
                            <a:srgbClr val="E9EDF5"/>
                          </a:solidFill>
                          <a:latin typeface="Aptos"/>
                        </a:defRPr>
                      </a:pPr>
                      <a:r>
                        <a:t>Metode</a:t>
                      </a:r>
                    </a:p>
                  </a:txBody>
                  <a:tcPr marL="91440" marR="91440">
                    <a:solidFill>
                      <a:srgbClr val="7C3AED"/>
                    </a:solidFill>
                  </a:tcPr>
                </a:tc>
                <a:tc>
                  <a:txBody>
                    <a:bodyPr/>
                    <a:lstStyle/>
                    <a:p>
                      <a:pPr>
                        <a:defRPr sz="1600" b="1">
                          <a:solidFill>
                            <a:srgbClr val="E9EDF5"/>
                          </a:solidFill>
                          <a:latin typeface="Aptos"/>
                        </a:defRPr>
                      </a:pPr>
                      <a:r>
                        <a:t>Hasil utama</a:t>
                      </a:r>
                    </a:p>
                  </a:txBody>
                  <a:tcPr marL="91440" marR="91440">
                    <a:solidFill>
                      <a:srgbClr val="7C3AED"/>
                    </a:solidFill>
                  </a:tcPr>
                </a:tc>
              </a:tr>
              <a:tr h="1097280">
                <a:tc>
                  <a:txBody>
                    <a:bodyPr/>
                    <a:lstStyle/>
                    <a:p>
                      <a:pPr>
                        <a:defRPr sz="1600" b="0">
                          <a:solidFill>
                            <a:srgbClr val="E9EDF5"/>
                          </a:solidFill>
                          <a:latin typeface="Aptos"/>
                        </a:defRPr>
                      </a:pPr>
                      <a:r>
                        <a:t>[4] Zhou et al. (2023)</a:t>
                      </a:r>
                    </a:p>
                  </a:txBody>
                  <a:tcPr marL="91440" marR="91440">
                    <a:solidFill>
                      <a:srgbClr val="141B2E"/>
                    </a:solidFill>
                  </a:tcPr>
                </a:tc>
                <a:tc>
                  <a:txBody>
                    <a:bodyPr/>
                    <a:lstStyle/>
                    <a:p>
                      <a:pPr>
                        <a:defRPr sz="1600" b="0">
                          <a:solidFill>
                            <a:srgbClr val="E9EDF5"/>
                          </a:solidFill>
                          <a:latin typeface="Aptos"/>
                        </a:defRPr>
                      </a:pPr>
                      <a:r>
                        <a:t>Operator 900.000 mentah</a:t>
                      </a:r>
                    </a:p>
                  </a:txBody>
                  <a:tcPr marL="91440" marR="91440">
                    <a:solidFill>
                      <a:srgbClr val="141B2E"/>
                    </a:solidFill>
                  </a:tcPr>
                </a:tc>
                <a:tc>
                  <a:txBody>
                    <a:bodyPr/>
                    <a:lstStyle/>
                    <a:p>
                      <a:pPr>
                        <a:defRPr sz="1600" b="0">
                          <a:solidFill>
                            <a:srgbClr val="E9EDF5"/>
                          </a:solidFill>
                          <a:latin typeface="Aptos"/>
                        </a:defRPr>
                      </a:pPr>
                      <a:r>
                        <a:t>RF-AdaBoost + SMOTE</a:t>
                      </a:r>
                    </a:p>
                  </a:txBody>
                  <a:tcPr marL="91440" marR="91440">
                    <a:solidFill>
                      <a:srgbClr val="141B2E"/>
                    </a:solidFill>
                  </a:tcPr>
                </a:tc>
                <a:tc>
                  <a:txBody>
                    <a:bodyPr/>
                    <a:lstStyle/>
                    <a:p>
                      <a:pPr>
                        <a:defRPr sz="1600" b="0">
                          <a:solidFill>
                            <a:srgbClr val="E9EDF5"/>
                          </a:solidFill>
                          <a:latin typeface="Aptos"/>
                        </a:defRPr>
                      </a:pPr>
                      <a:r>
                        <a:t>P=0,99 / R=0,93 / F1=0,96 (churn)</a:t>
                      </a:r>
                    </a:p>
                  </a:txBody>
                  <a:tcPr marL="91440" marR="91440">
                    <a:solidFill>
                      <a:srgbClr val="141B2E"/>
                    </a:solidFill>
                  </a:tcPr>
                </a:tc>
              </a:tr>
              <a:tr h="1097280">
                <a:tc>
                  <a:txBody>
                    <a:bodyPr/>
                    <a:lstStyle/>
                    <a:p>
                      <a:pPr>
                        <a:defRPr sz="1600" b="0">
                          <a:solidFill>
                            <a:srgbClr val="E9EDF5"/>
                          </a:solidFill>
                          <a:latin typeface="Aptos"/>
                        </a:defRPr>
                      </a:pPr>
                      <a:r>
                        <a:t>[5] Khattak et al. (2023)</a:t>
                      </a:r>
                    </a:p>
                  </a:txBody>
                  <a:tcPr marL="91440" marR="91440">
                    <a:solidFill>
                      <a:srgbClr val="141B2E"/>
                    </a:solidFill>
                  </a:tcPr>
                </a:tc>
                <a:tc>
                  <a:txBody>
                    <a:bodyPr/>
                    <a:lstStyle/>
                    <a:p>
                      <a:pPr>
                        <a:defRPr sz="1600" b="0">
                          <a:solidFill>
                            <a:srgbClr val="E9EDF5"/>
                          </a:solidFill>
                          <a:latin typeface="Aptos"/>
                        </a:defRPr>
                      </a:pPr>
                      <a:r>
                        <a:t>Telco; 7.033 menurut artikel</a:t>
                      </a:r>
                    </a:p>
                  </a:txBody>
                  <a:tcPr marL="91440" marR="91440">
                    <a:solidFill>
                      <a:srgbClr val="141B2E"/>
                    </a:solidFill>
                  </a:tcPr>
                </a:tc>
                <a:tc>
                  <a:txBody>
                    <a:bodyPr/>
                    <a:lstStyle/>
                    <a:p>
                      <a:pPr>
                        <a:defRPr sz="1600" b="0">
                          <a:solidFill>
                            <a:srgbClr val="E9EDF5"/>
                          </a:solidFill>
                          <a:latin typeface="Aptos"/>
                        </a:defRPr>
                      </a:pPr>
                      <a:r>
                        <a:t>BiLSTM-CNN</a:t>
                      </a:r>
                    </a:p>
                  </a:txBody>
                  <a:tcPr marL="91440" marR="91440">
                    <a:solidFill>
                      <a:srgbClr val="141B2E"/>
                    </a:solidFill>
                  </a:tcPr>
                </a:tc>
                <a:tc>
                  <a:txBody>
                    <a:bodyPr/>
                    <a:lstStyle/>
                    <a:p>
                      <a:pPr>
                        <a:defRPr sz="1600" b="0">
                          <a:solidFill>
                            <a:srgbClr val="E9EDF5"/>
                          </a:solidFill>
                          <a:latin typeface="Aptos"/>
                        </a:defRPr>
                      </a:pPr>
                      <a:r>
                        <a:t>Accuracy 81% / F-score 65%</a:t>
                      </a:r>
                    </a:p>
                  </a:txBody>
                  <a:tcPr marL="91440" marR="91440">
                    <a:solidFill>
                      <a:srgbClr val="141B2E"/>
                    </a:solidFill>
                  </a:tcPr>
                </a:tc>
              </a:tr>
            </a:tbl>
          </a:graphicData>
        </a:graphic>
      </p:graphicFrame>
      <p:sp>
        <p:nvSpPr>
          <p:cNvPr id="7" name="TextBox 6"/>
          <p:cNvSpPr txBox="1"/>
          <p:nvPr/>
        </p:nvSpPr>
        <p:spPr>
          <a:xfrm>
            <a:off x="594360" y="5303520"/>
            <a:ext cx="10972800" cy="822960"/>
          </a:xfrm>
          <a:prstGeom prst="rect">
            <a:avLst/>
          </a:prstGeom>
          <a:noFill/>
        </p:spPr>
        <p:txBody>
          <a:bodyPr wrap="square" lIns="18288" rIns="18288" tIns="0" bIns="0">
            <a:spAutoFit/>
          </a:bodyPr>
          <a:lstStyle/>
          <a:p>
            <a:pPr>
              <a:spcAft>
                <a:spcPts val="1000"/>
              </a:spcAft>
              <a:defRPr sz="1800" b="0">
                <a:solidFill>
                  <a:srgbClr val="AAB4C8"/>
                </a:solidFill>
                <a:latin typeface="Aptos"/>
              </a:defRPr>
            </a:pPr>
            <a:r>
              <a:t>Project: 3 model tabular + pipeline train-only + sigmoid calibration + Streamlit. Skor jurnal tidak dibandingkan langsung karena dataset dan protokol berbeda.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Dataset &amp; target</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Sumber: IBM Telco Customer Churn di Kaggle — blastchar</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06</a:t>
            </a:r>
          </a:p>
        </p:txBody>
      </p:sp>
      <p:graphicFrame>
        <p:nvGraphicFramePr>
          <p:cNvPr id="6" name="Table 5"/>
          <p:cNvGraphicFramePr>
            <a:graphicFrameLocks noGrp="1"/>
          </p:cNvGraphicFramePr>
          <p:nvPr/>
        </p:nvGraphicFramePr>
        <p:xfrm>
          <a:off x="548640" y="1691640"/>
          <a:ext cx="11064239" cy="3566160"/>
        </p:xfrm>
        <a:graphic>
          <a:graphicData uri="http://schemas.openxmlformats.org/drawingml/2006/table">
            <a:tbl>
              <a:tblPr firstRow="1" bandRow="1">
                <a:tableStyleId>{5C22544A-7EE6-4342-B048-85BDC9FD1C3A}</a:tableStyleId>
              </a:tblPr>
              <a:tblGrid>
                <a:gridCol w="2987344"/>
                <a:gridCol w="8076895"/>
              </a:tblGrid>
              <a:tr h="594360">
                <a:tc>
                  <a:txBody>
                    <a:bodyPr/>
                    <a:lstStyle/>
                    <a:p>
                      <a:pPr>
                        <a:defRPr sz="1900" b="1">
                          <a:solidFill>
                            <a:srgbClr val="E9EDF5"/>
                          </a:solidFill>
                          <a:latin typeface="Aptos"/>
                        </a:defRPr>
                      </a:pPr>
                      <a:r>
                        <a:t>Komponen</a:t>
                      </a:r>
                    </a:p>
                  </a:txBody>
                  <a:tcPr marL="91440" marR="91440">
                    <a:solidFill>
                      <a:srgbClr val="7C3AED"/>
                    </a:solidFill>
                  </a:tcPr>
                </a:tc>
                <a:tc>
                  <a:txBody>
                    <a:bodyPr/>
                    <a:lstStyle/>
                    <a:p>
                      <a:pPr>
                        <a:defRPr sz="1900" b="1">
                          <a:solidFill>
                            <a:srgbClr val="E9EDF5"/>
                          </a:solidFill>
                          <a:latin typeface="Aptos"/>
                        </a:defRPr>
                      </a:pPr>
                      <a:r>
                        <a:t>Jumlah / karakteristik</a:t>
                      </a:r>
                    </a:p>
                  </a:txBody>
                  <a:tcPr marL="91440" marR="91440">
                    <a:solidFill>
                      <a:srgbClr val="7C3AED"/>
                    </a:solidFill>
                  </a:tcPr>
                </a:tc>
              </a:tr>
              <a:tr h="594360">
                <a:tc>
                  <a:txBody>
                    <a:bodyPr/>
                    <a:lstStyle/>
                    <a:p>
                      <a:pPr>
                        <a:defRPr sz="1900" b="0">
                          <a:solidFill>
                            <a:srgbClr val="E9EDF5"/>
                          </a:solidFill>
                          <a:latin typeface="Aptos"/>
                        </a:defRPr>
                      </a:pPr>
                      <a:r>
                        <a:t>Data mentah</a:t>
                      </a:r>
                    </a:p>
                  </a:txBody>
                  <a:tcPr marL="91440" marR="91440">
                    <a:solidFill>
                      <a:srgbClr val="141B2E"/>
                    </a:solidFill>
                  </a:tcPr>
                </a:tc>
                <a:tc>
                  <a:txBody>
                    <a:bodyPr/>
                    <a:lstStyle/>
                    <a:p>
                      <a:pPr>
                        <a:defRPr sz="1900" b="0">
                          <a:solidFill>
                            <a:srgbClr val="E9EDF5"/>
                          </a:solidFill>
                          <a:latin typeface="Aptos"/>
                        </a:defRPr>
                      </a:pPr>
                      <a:r>
                        <a:t>7.043 pelanggan • 21 kolom (ID + 19 kandidat fitur + target)</a:t>
                      </a:r>
                    </a:p>
                  </a:txBody>
                  <a:tcPr marL="91440" marR="91440">
                    <a:solidFill>
                      <a:srgbClr val="141B2E"/>
                    </a:solidFill>
                  </a:tcPr>
                </a:tc>
              </a:tr>
              <a:tr h="594360">
                <a:tc>
                  <a:txBody>
                    <a:bodyPr/>
                    <a:lstStyle/>
                    <a:p>
                      <a:pPr>
                        <a:defRPr sz="1900" b="0">
                          <a:solidFill>
                            <a:srgbClr val="E9EDF5"/>
                          </a:solidFill>
                          <a:latin typeface="Aptos"/>
                        </a:defRPr>
                      </a:pPr>
                      <a:r>
                        <a:t>Cohort pemodelan</a:t>
                      </a:r>
                    </a:p>
                  </a:txBody>
                  <a:tcPr marL="91440" marR="91440">
                    <a:solidFill>
                      <a:srgbClr val="141B2E"/>
                    </a:solidFill>
                  </a:tcPr>
                </a:tc>
                <a:tc>
                  <a:txBody>
                    <a:bodyPr/>
                    <a:lstStyle/>
                    <a:p>
                      <a:pPr>
                        <a:defRPr sz="1900" b="0">
                          <a:solidFill>
                            <a:srgbClr val="E9EDF5"/>
                          </a:solidFill>
                          <a:latin typeface="Aptos"/>
                        </a:defRPr>
                      </a:pPr>
                      <a:r>
                        <a:t>7.032 pelanggan • 18 input fitur + target</a:t>
                      </a:r>
                    </a:p>
                  </a:txBody>
                  <a:tcPr marL="91440" marR="91440">
                    <a:solidFill>
                      <a:srgbClr val="141B2E"/>
                    </a:solidFill>
                  </a:tcPr>
                </a:tc>
              </a:tr>
              <a:tr h="594360">
                <a:tc>
                  <a:txBody>
                    <a:bodyPr/>
                    <a:lstStyle/>
                    <a:p>
                      <a:pPr>
                        <a:defRPr sz="1900" b="0">
                          <a:solidFill>
                            <a:srgbClr val="E9EDF5"/>
                          </a:solidFill>
                          <a:latin typeface="Aptos"/>
                        </a:defRPr>
                      </a:pPr>
                      <a:r>
                        <a:t>Target</a:t>
                      </a:r>
                    </a:p>
                  </a:txBody>
                  <a:tcPr marL="91440" marR="91440">
                    <a:solidFill>
                      <a:srgbClr val="141B2E"/>
                    </a:solidFill>
                  </a:tcPr>
                </a:tc>
                <a:tc>
                  <a:txBody>
                    <a:bodyPr/>
                    <a:lstStyle/>
                    <a:p>
                      <a:pPr>
                        <a:defRPr sz="1900" b="0">
                          <a:solidFill>
                            <a:srgbClr val="E9EDF5"/>
                          </a:solidFill>
                          <a:latin typeface="Aptos"/>
                        </a:defRPr>
                      </a:pPr>
                      <a:r>
                        <a:t>Churn Yes=1 / No=0 • 1.869 churn dan 5.163 tidak churn</a:t>
                      </a:r>
                    </a:p>
                  </a:txBody>
                  <a:tcPr marL="91440" marR="91440">
                    <a:solidFill>
                      <a:srgbClr val="141B2E"/>
                    </a:solidFill>
                  </a:tcPr>
                </a:tc>
              </a:tr>
              <a:tr h="594360">
                <a:tc>
                  <a:txBody>
                    <a:bodyPr/>
                    <a:lstStyle/>
                    <a:p>
                      <a:pPr>
                        <a:defRPr sz="1900" b="0">
                          <a:solidFill>
                            <a:srgbClr val="E9EDF5"/>
                          </a:solidFill>
                          <a:latin typeface="Aptos"/>
                        </a:defRPr>
                      </a:pPr>
                      <a:r>
                        <a:t>Numerik</a:t>
                      </a:r>
                    </a:p>
                  </a:txBody>
                  <a:tcPr marL="91440" marR="91440">
                    <a:solidFill>
                      <a:srgbClr val="141B2E"/>
                    </a:solidFill>
                  </a:tcPr>
                </a:tc>
                <a:tc>
                  <a:txBody>
                    <a:bodyPr/>
                    <a:lstStyle/>
                    <a:p>
                      <a:pPr>
                        <a:defRPr sz="1900" b="0">
                          <a:solidFill>
                            <a:srgbClr val="E9EDF5"/>
                          </a:solidFill>
                          <a:latin typeface="Aptos"/>
                        </a:defRPr>
                      </a:pPr>
                      <a:r>
                        <a:t>tenure (bulan), MonthlyCharges ($); SeniorCitizen indikator 0/1</a:t>
                      </a:r>
                    </a:p>
                  </a:txBody>
                  <a:tcPr marL="91440" marR="91440">
                    <a:solidFill>
                      <a:srgbClr val="141B2E"/>
                    </a:solidFill>
                  </a:tcPr>
                </a:tc>
              </a:tr>
              <a:tr h="594360">
                <a:tc>
                  <a:txBody>
                    <a:bodyPr/>
                    <a:lstStyle/>
                    <a:p>
                      <a:pPr>
                        <a:defRPr sz="1900" b="0">
                          <a:solidFill>
                            <a:srgbClr val="E9EDF5"/>
                          </a:solidFill>
                          <a:latin typeface="Aptos"/>
                        </a:defRPr>
                      </a:pPr>
                      <a:r>
                        <a:t>Kategorikal</a:t>
                      </a:r>
                    </a:p>
                  </a:txBody>
                  <a:tcPr marL="91440" marR="91440">
                    <a:solidFill>
                      <a:srgbClr val="141B2E"/>
                    </a:solidFill>
                  </a:tcPr>
                </a:tc>
                <a:tc>
                  <a:txBody>
                    <a:bodyPr/>
                    <a:lstStyle/>
                    <a:p>
                      <a:pPr>
                        <a:defRPr sz="1900" b="0">
                          <a:solidFill>
                            <a:srgbClr val="E9EDF5"/>
                          </a:solidFill>
                          <a:latin typeface="Aptos"/>
                        </a:defRPr>
                      </a:pPr>
                      <a:r>
                        <a:t>15 fitur: kontrak, layanan, pembayaran, demografi</a:t>
                      </a:r>
                    </a:p>
                  </a:txBody>
                  <a:tcPr marL="91440" marR="91440">
                    <a:solidFill>
                      <a:srgbClr val="141B2E"/>
                    </a:solidFill>
                  </a:tcPr>
                </a:tc>
              </a:tr>
            </a:tbl>
          </a:graphicData>
        </a:graphic>
      </p:graphicFrame>
      <p:sp>
        <p:nvSpPr>
          <p:cNvPr id="7" name="TextBox 6"/>
          <p:cNvSpPr txBox="1"/>
          <p:nvPr/>
        </p:nvSpPr>
        <p:spPr>
          <a:xfrm>
            <a:off x="594360" y="5532120"/>
            <a:ext cx="10972800" cy="457200"/>
          </a:xfrm>
          <a:prstGeom prst="rect">
            <a:avLst/>
          </a:prstGeom>
          <a:noFill/>
        </p:spPr>
        <p:txBody>
          <a:bodyPr wrap="square" lIns="18288" rIns="18288" tIns="0" bIns="0">
            <a:spAutoFit/>
          </a:bodyPr>
          <a:lstStyle/>
          <a:p>
            <a:pPr>
              <a:spcAft>
                <a:spcPts val="1000"/>
              </a:spcAft>
              <a:defRPr sz="1700" b="0">
                <a:solidFill>
                  <a:srgbClr val="AAB4C8"/>
                </a:solidFill>
                <a:latin typeface="Aptos"/>
              </a:defRPr>
            </a:pPr>
            <a:r>
              <a:t>Sumber dan arti seluruh 21 variabel ada pada laporan EDA di folder docs.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Pemeriksaan kualitas data</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Missing, duplikat, outlier, dan keputusan cleaning</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07</a:t>
            </a:r>
          </a:p>
        </p:txBody>
      </p:sp>
      <p:sp>
        <p:nvSpPr>
          <p:cNvPr id="6" name="TextBox 5"/>
          <p:cNvSpPr txBox="1"/>
          <p:nvPr/>
        </p:nvSpPr>
        <p:spPr>
          <a:xfrm>
            <a:off x="594360" y="1691640"/>
            <a:ext cx="10972800" cy="4389120"/>
          </a:xfrm>
          <a:prstGeom prst="rect">
            <a:avLst/>
          </a:prstGeom>
          <a:noFill/>
        </p:spPr>
        <p:txBody>
          <a:bodyPr wrap="square" lIns="18288" rIns="18288" tIns="0" bIns="0">
            <a:spAutoFit/>
          </a:bodyPr>
          <a:lstStyle/>
          <a:p>
            <a:pPr>
              <a:spcAft>
                <a:spcPts val="1000"/>
              </a:spcAft>
              <a:defRPr sz="2100" b="0">
                <a:solidFill>
                  <a:srgbClr val="E9EDF5"/>
                </a:solidFill>
                <a:latin typeface="Aptos"/>
              </a:defRPr>
            </a:pPr>
            <a:r>
              <a:t>• 11 TotalCharges kosong → numeric coercion → missing; seluruhnya tenure 0 / tidak churn.</a:t>
            </a:r>
          </a:p>
          <a:p>
            <a:pPr>
              <a:spcAft>
                <a:spcPts val="1000"/>
              </a:spcAft>
              <a:defRPr sz="2100" b="0">
                <a:solidFill>
                  <a:srgbClr val="E9EDF5"/>
                </a:solidFill>
                <a:latin typeface="Aptos"/>
              </a:defRPr>
            </a:pPr>
            <a:r>
              <a:t>• Tidak ada customerID ganda atau baris mentah identik.</a:t>
            </a:r>
          </a:p>
          <a:p>
            <a:pPr>
              <a:spcAft>
                <a:spcPts val="1000"/>
              </a:spcAft>
              <a:defRPr sz="2100" b="0">
                <a:solidFill>
                  <a:srgbClr val="E9EDF5"/>
                </a:solidFill>
                <a:latin typeface="Aptos"/>
              </a:defRPr>
            </a:pPr>
            <a:r>
              <a:t>• 27 profil duplikat setelah ID/TotalCharges dihapus (termasuk target); tidak dibuang otomatis.</a:t>
            </a:r>
          </a:p>
          <a:p>
            <a:pPr>
              <a:spcAft>
                <a:spcPts val="1000"/>
              </a:spcAft>
              <a:defRPr sz="2100" b="0">
                <a:solidFill>
                  <a:srgbClr val="E9EDF5"/>
                </a:solidFill>
                <a:latin typeface="Aptos"/>
              </a:defRPr>
            </a:pPr>
            <a:r>
              <a:t>• IQR 1,5× pada tenure, MonthlyCharges, TotalCharges: 0 outlier; tidak dilakukan clipping.</a:t>
            </a:r>
          </a:p>
          <a:p>
            <a:pPr>
              <a:spcAft>
                <a:spcPts val="1000"/>
              </a:spcAft>
              <a:defRPr sz="2100" b="0">
                <a:solidFill>
                  <a:srgbClr val="E9EDF5"/>
                </a:solidFill>
                <a:latin typeface="Aptos"/>
              </a:defRPr>
            </a:pPr>
            <a:r>
              <a:t>• 18 profil test cocok dengan profil train; menjadi keterbatasan generalisasi profil baru.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EDA — distribusi kelas</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Hubungan fitur–target dianalisis pada training set saja</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08</a:t>
            </a:r>
          </a:p>
        </p:txBody>
      </p:sp>
      <p:pic>
        <p:nvPicPr>
          <p:cNvPr id="6" name="Picture 5" descr="01_target_distribution.png"/>
          <p:cNvPicPr>
            <a:picLocks noChangeAspect="1"/>
          </p:cNvPicPr>
          <p:nvPr/>
        </p:nvPicPr>
        <p:blipFill>
          <a:blip r:embed="rId3"/>
          <a:stretch>
            <a:fillRect/>
          </a:stretch>
        </p:blipFill>
        <p:spPr>
          <a:xfrm>
            <a:off x="618381" y="1645919"/>
            <a:ext cx="10924757" cy="3291840"/>
          </a:xfrm>
          <a:prstGeom prst="rect">
            <a:avLst/>
          </a:prstGeom>
        </p:spPr>
      </p:pic>
      <p:sp>
        <p:nvSpPr>
          <p:cNvPr id="7" name="TextBox 6"/>
          <p:cNvSpPr txBox="1"/>
          <p:nvPr/>
        </p:nvSpPr>
        <p:spPr>
          <a:xfrm>
            <a:off x="594360" y="5120640"/>
            <a:ext cx="10972800" cy="1143000"/>
          </a:xfrm>
          <a:prstGeom prst="rect">
            <a:avLst/>
          </a:prstGeom>
          <a:noFill/>
        </p:spPr>
        <p:txBody>
          <a:bodyPr wrap="square" lIns="18288" rIns="18288" tIns="0" bIns="0">
            <a:spAutoFit/>
          </a:bodyPr>
          <a:lstStyle/>
          <a:p>
            <a:pPr>
              <a:spcAft>
                <a:spcPts val="1000"/>
              </a:spcAft>
              <a:defRPr sz="1600" b="0">
                <a:solidFill>
                  <a:srgbClr val="AAB4C8"/>
                </a:solidFill>
                <a:latin typeface="Aptos"/>
              </a:defRPr>
            </a:pPr>
            <a:r>
              <a:t>Setelah data dibersihkan, sekitar 73,4% pelanggan tidak churn dan 26,6% churn. Jumlah kedua kelompok tidak seimbang. Karena itu, akurasi perlu dilihat bersama precision, recall, dan F1 agar kemampuan mendeteksi churn tidak terlewat.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EDA — distribusi numerik</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Hubungan fitur–target dianalisis pada training set saja</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09</a:t>
            </a:r>
          </a:p>
        </p:txBody>
      </p:sp>
      <p:pic>
        <p:nvPicPr>
          <p:cNvPr id="6" name="Picture 5" descr="02_numeric_histograms_train.png"/>
          <p:cNvPicPr>
            <a:picLocks noChangeAspect="1"/>
          </p:cNvPicPr>
          <p:nvPr/>
        </p:nvPicPr>
        <p:blipFill>
          <a:blip r:embed="rId3"/>
          <a:stretch>
            <a:fillRect/>
          </a:stretch>
        </p:blipFill>
        <p:spPr>
          <a:xfrm>
            <a:off x="548640" y="1719153"/>
            <a:ext cx="11064240" cy="3145372"/>
          </a:xfrm>
          <a:prstGeom prst="rect">
            <a:avLst/>
          </a:prstGeom>
        </p:spPr>
      </p:pic>
      <p:sp>
        <p:nvSpPr>
          <p:cNvPr id="7" name="TextBox 6"/>
          <p:cNvSpPr txBox="1"/>
          <p:nvPr/>
        </p:nvSpPr>
        <p:spPr>
          <a:xfrm>
            <a:off x="594360" y="5120640"/>
            <a:ext cx="10972800" cy="1143000"/>
          </a:xfrm>
          <a:prstGeom prst="rect">
            <a:avLst/>
          </a:prstGeom>
          <a:noFill/>
        </p:spPr>
        <p:txBody>
          <a:bodyPr wrap="square" lIns="18288" rIns="18288" tIns="0" bIns="0">
            <a:spAutoFit/>
          </a:bodyPr>
          <a:lstStyle/>
          <a:p>
            <a:pPr>
              <a:spcAft>
                <a:spcPts val="1000"/>
              </a:spcAft>
              <a:defRPr sz="1600" b="0">
                <a:solidFill>
                  <a:srgbClr val="AAB4C8"/>
                </a:solidFill>
                <a:latin typeface="Aptos"/>
              </a:defRPr>
            </a:pPr>
            <a:r>
              <a:t>Tenure menunjukkan lama berlangganan, dari pelanggan baru hingga 72 bulan. Tagihan bulanan tersebar dalam beberapa kelompok, sedangkan total tagihan banyak berada pada nilai rendah. StandardScaler menyamakan skala fitur angka untuk Logistic Regression, bukan membuat distribusinya menjadi normal.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EDA — profil churn vs tidak churn</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Hubungan fitur–target dianalisis pada training set saja</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10</a:t>
            </a:r>
          </a:p>
        </p:txBody>
      </p:sp>
      <p:pic>
        <p:nvPicPr>
          <p:cNvPr id="6" name="Picture 5" descr="03_numeric_boxplots_train.png"/>
          <p:cNvPicPr>
            <a:picLocks noChangeAspect="1"/>
          </p:cNvPicPr>
          <p:nvPr/>
        </p:nvPicPr>
        <p:blipFill>
          <a:blip r:embed="rId3"/>
          <a:stretch>
            <a:fillRect/>
          </a:stretch>
        </p:blipFill>
        <p:spPr>
          <a:xfrm>
            <a:off x="612615" y="1645919"/>
            <a:ext cx="10936288" cy="3291840"/>
          </a:xfrm>
          <a:prstGeom prst="rect">
            <a:avLst/>
          </a:prstGeom>
        </p:spPr>
      </p:pic>
      <p:sp>
        <p:nvSpPr>
          <p:cNvPr id="7" name="TextBox 6"/>
          <p:cNvSpPr txBox="1"/>
          <p:nvPr/>
        </p:nvSpPr>
        <p:spPr>
          <a:xfrm>
            <a:off x="594360" y="5120640"/>
            <a:ext cx="10972800" cy="1143000"/>
          </a:xfrm>
          <a:prstGeom prst="rect">
            <a:avLst/>
          </a:prstGeom>
          <a:noFill/>
        </p:spPr>
        <p:txBody>
          <a:bodyPr wrap="square" lIns="18288" rIns="18288" tIns="0" bIns="0">
            <a:spAutoFit/>
          </a:bodyPr>
          <a:lstStyle/>
          <a:p>
            <a:pPr>
              <a:spcAft>
                <a:spcPts val="1000"/>
              </a:spcAft>
              <a:defRPr sz="1600" b="0">
                <a:solidFill>
                  <a:srgbClr val="AAB4C8"/>
                </a:solidFill>
                <a:latin typeface="Aptos"/>
              </a:defRPr>
            </a:pPr>
            <a:r>
              <a:t>Pada data training, median lama berlangganan pelanggan churn adalah 10 bulan, sedangkan pelanggan tidak churn 38 bulan. Median tagihannya masing-masing $79.90 dan $64.68. Pola ini belum membuktikan sebab-akibat. Titik outlier pada boxplot dihitung per kelompok, berbeda dari tabel IQR yang memeriksa seluruh data sekaligus.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EDA — kontrak, internet, pembayaran</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Hubungan fitur–target dianalisis pada training set saja</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11</a:t>
            </a:r>
          </a:p>
        </p:txBody>
      </p:sp>
      <p:pic>
        <p:nvPicPr>
          <p:cNvPr id="6" name="Picture 5" descr="05_categorical_churn_train.png"/>
          <p:cNvPicPr>
            <a:picLocks noChangeAspect="1"/>
          </p:cNvPicPr>
          <p:nvPr/>
        </p:nvPicPr>
        <p:blipFill>
          <a:blip r:embed="rId3"/>
          <a:stretch>
            <a:fillRect/>
          </a:stretch>
        </p:blipFill>
        <p:spPr>
          <a:xfrm>
            <a:off x="989545" y="1645919"/>
            <a:ext cx="10182428" cy="3291840"/>
          </a:xfrm>
          <a:prstGeom prst="rect">
            <a:avLst/>
          </a:prstGeom>
        </p:spPr>
      </p:pic>
      <p:sp>
        <p:nvSpPr>
          <p:cNvPr id="7" name="TextBox 6"/>
          <p:cNvSpPr txBox="1"/>
          <p:nvPr/>
        </p:nvSpPr>
        <p:spPr>
          <a:xfrm>
            <a:off x="594360" y="5120640"/>
            <a:ext cx="10972800" cy="1143000"/>
          </a:xfrm>
          <a:prstGeom prst="rect">
            <a:avLst/>
          </a:prstGeom>
          <a:noFill/>
        </p:spPr>
        <p:txBody>
          <a:bodyPr wrap="square" lIns="18288" rIns="18288" tIns="0" bIns="0">
            <a:spAutoFit/>
          </a:bodyPr>
          <a:lstStyle/>
          <a:p>
            <a:pPr>
              <a:spcAft>
                <a:spcPts val="1000"/>
              </a:spcAft>
              <a:defRPr sz="1600" b="0">
                <a:solidFill>
                  <a:srgbClr val="AAB4C8"/>
                </a:solidFill>
                <a:latin typeface="Aptos"/>
              </a:defRPr>
            </a:pPr>
            <a:r>
              <a:t>Pada data training, 43.1% pelanggan kontrak bulanan churn, dibanding 2.9% pada kontrak dua tahun. Persentase churn juga berbeda menurut layanan internet dan cara pembayaran. Ini membantu mengenali pola pelanggan, tetapi belum membuktikan bahwa mengganti kontrak atau metode pembayaran akan mencegah churn.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EDA — korelasi &amp; pilihan fitur</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Korelasi bukan identitas dan bukan sebab-akibat</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12</a:t>
            </a:r>
          </a:p>
        </p:txBody>
      </p:sp>
      <p:pic>
        <p:nvPicPr>
          <p:cNvPr id="6" name="Picture 5" descr="04_correlation_train.png"/>
          <p:cNvPicPr>
            <a:picLocks noChangeAspect="1"/>
          </p:cNvPicPr>
          <p:nvPr/>
        </p:nvPicPr>
        <p:blipFill>
          <a:blip r:embed="rId3"/>
          <a:stretch>
            <a:fillRect/>
          </a:stretch>
        </p:blipFill>
        <p:spPr>
          <a:xfrm>
            <a:off x="659590" y="1645920"/>
            <a:ext cx="5630259" cy="4389120"/>
          </a:xfrm>
          <a:prstGeom prst="rect">
            <a:avLst/>
          </a:prstGeom>
        </p:spPr>
      </p:pic>
      <p:sp>
        <p:nvSpPr>
          <p:cNvPr id="7" name="TextBox 6"/>
          <p:cNvSpPr txBox="1"/>
          <p:nvPr/>
        </p:nvSpPr>
        <p:spPr>
          <a:xfrm>
            <a:off x="6629400" y="1828800"/>
            <a:ext cx="4937760" cy="4389120"/>
          </a:xfrm>
          <a:prstGeom prst="rect">
            <a:avLst/>
          </a:prstGeom>
          <a:noFill/>
        </p:spPr>
        <p:txBody>
          <a:bodyPr wrap="square" lIns="18288" rIns="18288" tIns="0" bIns="0">
            <a:spAutoFit/>
          </a:bodyPr>
          <a:lstStyle/>
          <a:p>
            <a:pPr>
              <a:spcAft>
                <a:spcPts val="1000"/>
              </a:spcAft>
              <a:defRPr sz="2000" b="0">
                <a:solidFill>
                  <a:srgbClr val="E9EDF5"/>
                </a:solidFill>
                <a:latin typeface="Aptos"/>
              </a:defRPr>
            </a:pPr>
            <a:r>
              <a:t>• TotalCharges berkorelasi kuat dengan tenure.</a:t>
            </a:r>
          </a:p>
          <a:p>
            <a:pPr>
              <a:spcAft>
                <a:spcPts val="1000"/>
              </a:spcAft>
              <a:defRPr sz="2000" b="0">
                <a:solidFill>
                  <a:srgbClr val="E9EDF5"/>
                </a:solidFill>
                <a:latin typeface="Aptos"/>
              </a:defRPr>
            </a:pPr>
            <a:r>
              <a:t>• TotalCharges dihapus agar input aplikasi sederhana.</a:t>
            </a:r>
          </a:p>
          <a:p>
            <a:pPr>
              <a:spcAft>
                <a:spcPts val="1000"/>
              </a:spcAft>
              <a:defRPr sz="2000" b="0">
                <a:solidFill>
                  <a:srgbClr val="E9EDF5"/>
                </a:solidFill>
                <a:latin typeface="Aptos"/>
              </a:defRPr>
            </a:pPr>
            <a:r>
              <a:t>• Tidak selalu MonthlyCharges × tenure.</a:t>
            </a:r>
          </a:p>
          <a:p>
            <a:pPr>
              <a:spcAft>
                <a:spcPts val="1000"/>
              </a:spcAft>
              <a:defRPr sz="2000" b="0">
                <a:solidFill>
                  <a:srgbClr val="E9EDF5"/>
                </a:solidFill>
                <a:latin typeface="Aptos"/>
              </a:defRPr>
            </a:pPr>
            <a:r>
              <a:t>• Belum ada ablation untuk membuktikan keuntungan penghapusan fitur.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Preprocessing &amp; pencegahan leakage</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Fit preprocessing hanya pada training fold</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13</a:t>
            </a:r>
          </a:p>
        </p:txBody>
      </p:sp>
      <p:sp>
        <p:nvSpPr>
          <p:cNvPr id="6" name="TextBox 5"/>
          <p:cNvSpPr txBox="1"/>
          <p:nvPr/>
        </p:nvSpPr>
        <p:spPr>
          <a:xfrm>
            <a:off x="594360" y="1691640"/>
            <a:ext cx="10972800" cy="4389120"/>
          </a:xfrm>
          <a:prstGeom prst="rect">
            <a:avLst/>
          </a:prstGeom>
          <a:noFill/>
        </p:spPr>
        <p:txBody>
          <a:bodyPr wrap="square" lIns="18288" rIns="18288" tIns="0" bIns="0">
            <a:spAutoFit/>
          </a:bodyPr>
          <a:lstStyle/>
          <a:p>
            <a:pPr>
              <a:spcAft>
                <a:spcPts val="1000"/>
              </a:spcAft>
              <a:defRPr sz="2100" b="0">
                <a:solidFill>
                  <a:srgbClr val="E9EDF5"/>
                </a:solidFill>
                <a:latin typeface="Aptos"/>
              </a:defRPr>
            </a:pPr>
            <a:r>
              <a:t>• customerID dihapus; TotalCharges tidak digunakan; 11 catatan tidak lengkap dieksklusi.</a:t>
            </a:r>
          </a:p>
          <a:p>
            <a:pPr>
              <a:spcAft>
                <a:spcPts val="1000"/>
              </a:spcAft>
              <a:defRPr sz="2100" b="0">
                <a:solidFill>
                  <a:srgbClr val="E9EDF5"/>
                </a:solidFill>
                <a:latin typeface="Aptos"/>
              </a:defRPr>
            </a:pPr>
            <a:r>
              <a:t>• StandardScaler: SeniorCitizen, tenure, MonthlyCharges; OneHotEncoder: 15 kategori.</a:t>
            </a:r>
          </a:p>
          <a:p>
            <a:pPr>
              <a:spcAft>
                <a:spcPts val="1000"/>
              </a:spcAft>
              <a:defRPr sz="2100" b="0">
                <a:solidFill>
                  <a:srgbClr val="E9EDF5"/>
                </a:solidFill>
                <a:latin typeface="Aptos"/>
              </a:defRPr>
            </a:pPr>
            <a:r>
              <a:t>• Scaling membantu LR; pohon tetap memakai pipeline konsisten walau tidak memerlukannya.</a:t>
            </a:r>
          </a:p>
          <a:p>
            <a:pPr>
              <a:spcAft>
                <a:spcPts val="1000"/>
              </a:spcAft>
              <a:defRPr sz="2100" b="0">
                <a:solidFill>
                  <a:srgbClr val="E9EDF5"/>
                </a:solidFill>
                <a:latin typeface="Aptos"/>
              </a:defRPr>
            </a:pPr>
            <a:r>
              <a:t>• Class weight dituning untuk imbalance; tanpa SMOTE pada eksperimen project.</a:t>
            </a:r>
          </a:p>
          <a:p>
            <a:pPr>
              <a:spcAft>
                <a:spcPts val="1000"/>
              </a:spcAft>
              <a:defRPr sz="2100" b="0">
                <a:solidFill>
                  <a:srgbClr val="E9EDF5"/>
                </a:solidFill>
                <a:latin typeface="Aptos"/>
              </a:defRPr>
            </a:pPr>
            <a:r>
              <a:t>• ColumnTransformer + classifier dalam Pipeline; test tidak dipakai untuk fit/tuning.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Tiga algoritma &amp; alasan pemilihan</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Membandingkan model linear, pohon tunggal, dan ensemble</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14</a:t>
            </a:r>
          </a:p>
        </p:txBody>
      </p:sp>
      <p:graphicFrame>
        <p:nvGraphicFramePr>
          <p:cNvPr id="6" name="Table 5"/>
          <p:cNvGraphicFramePr>
            <a:graphicFrameLocks noGrp="1"/>
          </p:cNvGraphicFramePr>
          <p:nvPr/>
        </p:nvGraphicFramePr>
        <p:xfrm>
          <a:off x="548640" y="1691640"/>
          <a:ext cx="11064238" cy="3383280"/>
        </p:xfrm>
        <a:graphic>
          <a:graphicData uri="http://schemas.openxmlformats.org/drawingml/2006/table">
            <a:tbl>
              <a:tblPr firstRow="1" bandRow="1">
                <a:tableStyleId>{5C22544A-7EE6-4342-B048-85BDC9FD1C3A}</a:tableStyleId>
              </a:tblPr>
              <a:tblGrid>
                <a:gridCol w="2655417"/>
                <a:gridCol w="4646980"/>
                <a:gridCol w="3761841"/>
              </a:tblGrid>
              <a:tr h="845820">
                <a:tc>
                  <a:txBody>
                    <a:bodyPr/>
                    <a:lstStyle/>
                    <a:p>
                      <a:pPr>
                        <a:defRPr sz="2000" b="1">
                          <a:solidFill>
                            <a:srgbClr val="E9EDF5"/>
                          </a:solidFill>
                          <a:latin typeface="Aptos"/>
                        </a:defRPr>
                      </a:pPr>
                      <a:r>
                        <a:t>Model</a:t>
                      </a:r>
                    </a:p>
                  </a:txBody>
                  <a:tcPr marL="91440" marR="91440">
                    <a:solidFill>
                      <a:srgbClr val="7C3AED"/>
                    </a:solidFill>
                  </a:tcPr>
                </a:tc>
                <a:tc>
                  <a:txBody>
                    <a:bodyPr/>
                    <a:lstStyle/>
                    <a:p>
                      <a:pPr>
                        <a:defRPr sz="2000" b="1">
                          <a:solidFill>
                            <a:srgbClr val="E9EDF5"/>
                          </a:solidFill>
                          <a:latin typeface="Aptos"/>
                        </a:defRPr>
                      </a:pPr>
                      <a:r>
                        <a:t>Alasan</a:t>
                      </a:r>
                    </a:p>
                  </a:txBody>
                  <a:tcPr marL="91440" marR="91440">
                    <a:solidFill>
                      <a:srgbClr val="7C3AED"/>
                    </a:solidFill>
                  </a:tcPr>
                </a:tc>
                <a:tc>
                  <a:txBody>
                    <a:bodyPr/>
                    <a:lstStyle/>
                    <a:p>
                      <a:pPr>
                        <a:defRPr sz="2000" b="1">
                          <a:solidFill>
                            <a:srgbClr val="E9EDF5"/>
                          </a:solidFill>
                          <a:latin typeface="Aptos"/>
                        </a:defRPr>
                      </a:pPr>
                      <a:r>
                        <a:t>Risiko / kontrol</a:t>
                      </a:r>
                    </a:p>
                  </a:txBody>
                  <a:tcPr marL="91440" marR="91440">
                    <a:solidFill>
                      <a:srgbClr val="7C3AED"/>
                    </a:solidFill>
                  </a:tcPr>
                </a:tc>
              </a:tr>
              <a:tr h="845820">
                <a:tc>
                  <a:txBody>
                    <a:bodyPr/>
                    <a:lstStyle/>
                    <a:p>
                      <a:pPr>
                        <a:defRPr sz="2000" b="0">
                          <a:solidFill>
                            <a:srgbClr val="E9EDF5"/>
                          </a:solidFill>
                          <a:latin typeface="Aptos"/>
                        </a:defRPr>
                      </a:pPr>
                      <a:r>
                        <a:t>Logistic Regression</a:t>
                      </a:r>
                    </a:p>
                  </a:txBody>
                  <a:tcPr marL="91440" marR="91440">
                    <a:solidFill>
                      <a:srgbClr val="141B2E"/>
                    </a:solidFill>
                  </a:tcPr>
                </a:tc>
                <a:tc>
                  <a:txBody>
                    <a:bodyPr/>
                    <a:lstStyle/>
                    <a:p>
                      <a:pPr>
                        <a:defRPr sz="2000" b="0">
                          <a:solidFill>
                            <a:srgbClr val="E9EDF5"/>
                          </a:solidFill>
                          <a:latin typeface="Aptos"/>
                        </a:defRPr>
                      </a:pPr>
                      <a:r>
                        <a:t>Ringan; baseline linear log-odds; koefisien mudah dibahas</a:t>
                      </a:r>
                    </a:p>
                  </a:txBody>
                  <a:tcPr marL="91440" marR="91440">
                    <a:solidFill>
                      <a:srgbClr val="141B2E"/>
                    </a:solidFill>
                  </a:tcPr>
                </a:tc>
                <a:tc>
                  <a:txBody>
                    <a:bodyPr/>
                    <a:lstStyle/>
                    <a:p>
                      <a:pPr>
                        <a:defRPr sz="2000" b="0">
                          <a:solidFill>
                            <a:srgbClr val="E9EDF5"/>
                          </a:solidFill>
                          <a:latin typeface="Aptos"/>
                        </a:defRPr>
                      </a:pPr>
                      <a:r>
                        <a:t>C dan class_weight dituning</a:t>
                      </a:r>
                    </a:p>
                  </a:txBody>
                  <a:tcPr marL="91440" marR="91440">
                    <a:solidFill>
                      <a:srgbClr val="141B2E"/>
                    </a:solidFill>
                  </a:tcPr>
                </a:tc>
              </a:tr>
              <a:tr h="845820">
                <a:tc>
                  <a:txBody>
                    <a:bodyPr/>
                    <a:lstStyle/>
                    <a:p>
                      <a:pPr>
                        <a:defRPr sz="2000" b="0">
                          <a:solidFill>
                            <a:srgbClr val="E9EDF5"/>
                          </a:solidFill>
                          <a:latin typeface="Aptos"/>
                        </a:defRPr>
                      </a:pPr>
                      <a:r>
                        <a:t>Decision Tree</a:t>
                      </a:r>
                    </a:p>
                  </a:txBody>
                  <a:tcPr marL="91440" marR="91440">
                    <a:solidFill>
                      <a:srgbClr val="141B2E"/>
                    </a:solidFill>
                  </a:tcPr>
                </a:tc>
                <a:tc>
                  <a:txBody>
                    <a:bodyPr/>
                    <a:lstStyle/>
                    <a:p>
                      <a:pPr>
                        <a:defRPr sz="2000" b="0">
                          <a:solidFill>
                            <a:srgbClr val="E9EDF5"/>
                          </a:solidFill>
                          <a:latin typeface="Aptos"/>
                        </a:defRPr>
                      </a:pPr>
                      <a:r>
                        <a:t>Aturan non-linear dan interaksi fitur</a:t>
                      </a:r>
                    </a:p>
                  </a:txBody>
                  <a:tcPr marL="91440" marR="91440">
                    <a:solidFill>
                      <a:srgbClr val="141B2E"/>
                    </a:solidFill>
                  </a:tcPr>
                </a:tc>
                <a:tc>
                  <a:txBody>
                    <a:bodyPr/>
                    <a:lstStyle/>
                    <a:p>
                      <a:pPr>
                        <a:defRPr sz="2000" b="0">
                          <a:solidFill>
                            <a:srgbClr val="E9EDF5"/>
                          </a:solidFill>
                          <a:latin typeface="Aptos"/>
                        </a:defRPr>
                      </a:pPr>
                      <a:r>
                        <a:t>max_depth / min_samples_split / class_weight</a:t>
                      </a:r>
                    </a:p>
                  </a:txBody>
                  <a:tcPr marL="91440" marR="91440">
                    <a:solidFill>
                      <a:srgbClr val="141B2E"/>
                    </a:solidFill>
                  </a:tcPr>
                </a:tc>
              </a:tr>
              <a:tr h="845820">
                <a:tc>
                  <a:txBody>
                    <a:bodyPr/>
                    <a:lstStyle/>
                    <a:p>
                      <a:pPr>
                        <a:defRPr sz="2000" b="0">
                          <a:solidFill>
                            <a:srgbClr val="E9EDF5"/>
                          </a:solidFill>
                          <a:latin typeface="Aptos"/>
                        </a:defRPr>
                      </a:pPr>
                      <a:r>
                        <a:t>Random Forest</a:t>
                      </a:r>
                    </a:p>
                  </a:txBody>
                  <a:tcPr marL="91440" marR="91440">
                    <a:solidFill>
                      <a:srgbClr val="141B2E"/>
                    </a:solidFill>
                  </a:tcPr>
                </a:tc>
                <a:tc>
                  <a:txBody>
                    <a:bodyPr/>
                    <a:lstStyle/>
                    <a:p>
                      <a:pPr>
                        <a:defRPr sz="2000" b="0">
                          <a:solidFill>
                            <a:srgbClr val="E9EDF5"/>
                          </a:solidFill>
                          <a:latin typeface="Aptos"/>
                        </a:defRPr>
                      </a:pPr>
                      <a:r>
                        <a:t>Bagging banyak pohon; pembanding kompleksitas</a:t>
                      </a:r>
                    </a:p>
                  </a:txBody>
                  <a:tcPr marL="91440" marR="91440">
                    <a:solidFill>
                      <a:srgbClr val="141B2E"/>
                    </a:solidFill>
                  </a:tcPr>
                </a:tc>
                <a:tc>
                  <a:txBody>
                    <a:bodyPr/>
                    <a:lstStyle/>
                    <a:p>
                      <a:pPr>
                        <a:defRPr sz="2000" b="0">
                          <a:solidFill>
                            <a:srgbClr val="E9EDF5"/>
                          </a:solidFill>
                          <a:latin typeface="Aptos"/>
                        </a:defRPr>
                      </a:pPr>
                      <a:r>
                        <a:t>Kedalaman dan split dituning; periksa overfitting</a:t>
                      </a:r>
                    </a:p>
                  </a:txBody>
                  <a:tcPr marL="91440" marR="91440">
                    <a:solidFill>
                      <a:srgbClr val="141B2E"/>
                    </a:solidFill>
                  </a:tcPr>
                </a:tc>
              </a:tr>
            </a:tbl>
          </a:graphicData>
        </a:graphic>
      </p:graphicFrame>
      <p:sp>
        <p:nvSpPr>
          <p:cNvPr id="7" name="TextBox 6"/>
          <p:cNvSpPr txBox="1"/>
          <p:nvPr/>
        </p:nvSpPr>
        <p:spPr>
          <a:xfrm>
            <a:off x="594360" y="5440680"/>
            <a:ext cx="10972800" cy="548640"/>
          </a:xfrm>
          <a:prstGeom prst="rect">
            <a:avLst/>
          </a:prstGeom>
          <a:noFill/>
        </p:spPr>
        <p:txBody>
          <a:bodyPr wrap="square" lIns="18288" rIns="18288" tIns="0" bIns="0">
            <a:spAutoFit/>
          </a:bodyPr>
          <a:lstStyle/>
          <a:p>
            <a:pPr>
              <a:spcAft>
                <a:spcPts val="1000"/>
              </a:spcAft>
              <a:defRPr sz="1800" b="0">
                <a:solidFill>
                  <a:srgbClr val="AAB4C8"/>
                </a:solidFill>
                <a:latin typeface="Aptos"/>
              </a:defRPr>
            </a:pPr>
            <a:r>
              <a:t>Dasar literatur: [1] membandingkan ketiganya; [3]–[4] membahas ensemble churn.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Training, validation &amp; parameter terbaik</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80:20 stratified • random_state=42 • CV 5-fold • GridSearch scoring F1</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15</a:t>
            </a:r>
          </a:p>
        </p:txBody>
      </p:sp>
      <p:graphicFrame>
        <p:nvGraphicFramePr>
          <p:cNvPr id="6" name="Table 5"/>
          <p:cNvGraphicFramePr>
            <a:graphicFrameLocks noGrp="1"/>
          </p:cNvGraphicFramePr>
          <p:nvPr/>
        </p:nvGraphicFramePr>
        <p:xfrm>
          <a:off x="548640" y="1691640"/>
          <a:ext cx="11064239" cy="3200400"/>
        </p:xfrm>
        <a:graphic>
          <a:graphicData uri="http://schemas.openxmlformats.org/drawingml/2006/table">
            <a:tbl>
              <a:tblPr firstRow="1" bandRow="1">
                <a:tableStyleId>{5C22544A-7EE6-4342-B048-85BDC9FD1C3A}</a:tableStyleId>
              </a:tblPr>
              <a:tblGrid>
                <a:gridCol w="2655417"/>
                <a:gridCol w="6749186"/>
                <a:gridCol w="1659636"/>
              </a:tblGrid>
              <a:tr h="800100">
                <a:tc>
                  <a:txBody>
                    <a:bodyPr/>
                    <a:lstStyle/>
                    <a:p>
                      <a:pPr>
                        <a:defRPr sz="1900" b="1">
                          <a:solidFill>
                            <a:srgbClr val="E9EDF5"/>
                          </a:solidFill>
                          <a:latin typeface="Aptos"/>
                        </a:defRPr>
                      </a:pPr>
                      <a:r>
                        <a:t>Model</a:t>
                      </a:r>
                    </a:p>
                  </a:txBody>
                  <a:tcPr marL="91440" marR="91440">
                    <a:solidFill>
                      <a:srgbClr val="7C3AED"/>
                    </a:solidFill>
                  </a:tcPr>
                </a:tc>
                <a:tc>
                  <a:txBody>
                    <a:bodyPr/>
                    <a:lstStyle/>
                    <a:p>
                      <a:pPr>
                        <a:defRPr sz="1900" b="1">
                          <a:solidFill>
                            <a:srgbClr val="E9EDF5"/>
                          </a:solidFill>
                          <a:latin typeface="Aptos"/>
                        </a:defRPr>
                      </a:pPr>
                      <a:r>
                        <a:t>Parameter terbaik</a:t>
                      </a:r>
                    </a:p>
                  </a:txBody>
                  <a:tcPr marL="91440" marR="91440">
                    <a:solidFill>
                      <a:srgbClr val="7C3AED"/>
                    </a:solidFill>
                  </a:tcPr>
                </a:tc>
                <a:tc>
                  <a:txBody>
                    <a:bodyPr/>
                    <a:lstStyle/>
                    <a:p>
                      <a:pPr>
                        <a:defRPr sz="1900" b="1">
                          <a:solidFill>
                            <a:srgbClr val="E9EDF5"/>
                          </a:solidFill>
                          <a:latin typeface="Aptos"/>
                        </a:defRPr>
                      </a:pPr>
                      <a:r>
                        <a:t>CV-F1</a:t>
                      </a:r>
                    </a:p>
                  </a:txBody>
                  <a:tcPr marL="91440" marR="91440">
                    <a:solidFill>
                      <a:srgbClr val="7C3AED"/>
                    </a:solidFill>
                  </a:tcPr>
                </a:tc>
              </a:tr>
              <a:tr h="800100">
                <a:tc>
                  <a:txBody>
                    <a:bodyPr/>
                    <a:lstStyle/>
                    <a:p>
                      <a:pPr>
                        <a:defRPr sz="1900" b="0">
                          <a:solidFill>
                            <a:srgbClr val="E9EDF5"/>
                          </a:solidFill>
                          <a:latin typeface="Aptos"/>
                        </a:defRPr>
                      </a:pPr>
                      <a:r>
                        <a:t>Logistic Regression</a:t>
                      </a:r>
                    </a:p>
                  </a:txBody>
                  <a:tcPr marL="91440" marR="91440">
                    <a:solidFill>
                      <a:srgbClr val="141B2E"/>
                    </a:solidFill>
                  </a:tcPr>
                </a:tc>
                <a:tc>
                  <a:txBody>
                    <a:bodyPr/>
                    <a:lstStyle/>
                    <a:p>
                      <a:pPr>
                        <a:defRPr sz="1900" b="0">
                          <a:solidFill>
                            <a:srgbClr val="E9EDF5"/>
                          </a:solidFill>
                          <a:latin typeface="Aptos"/>
                        </a:defRPr>
                      </a:pPr>
                      <a:r>
                        <a:t>C=10; class_weight=balanced; max_iter=1.000</a:t>
                      </a:r>
                    </a:p>
                  </a:txBody>
                  <a:tcPr marL="91440" marR="91440">
                    <a:solidFill>
                      <a:srgbClr val="141B2E"/>
                    </a:solidFill>
                  </a:tcPr>
                </a:tc>
                <a:tc>
                  <a:txBody>
                    <a:bodyPr/>
                    <a:lstStyle/>
                    <a:p>
                      <a:pPr>
                        <a:defRPr sz="1900" b="0">
                          <a:solidFill>
                            <a:srgbClr val="E9EDF5"/>
                          </a:solidFill>
                          <a:latin typeface="Aptos"/>
                        </a:defRPr>
                      </a:pPr>
                      <a:r>
                        <a:t>0,6304</a:t>
                      </a:r>
                    </a:p>
                  </a:txBody>
                  <a:tcPr marL="91440" marR="91440">
                    <a:solidFill>
                      <a:srgbClr val="141B2E"/>
                    </a:solidFill>
                  </a:tcPr>
                </a:tc>
              </a:tr>
              <a:tr h="800100">
                <a:tc>
                  <a:txBody>
                    <a:bodyPr/>
                    <a:lstStyle/>
                    <a:p>
                      <a:pPr>
                        <a:defRPr sz="1900" b="0">
                          <a:solidFill>
                            <a:srgbClr val="E9EDF5"/>
                          </a:solidFill>
                          <a:latin typeface="Aptos"/>
                        </a:defRPr>
                      </a:pPr>
                      <a:r>
                        <a:t>Decision Tree</a:t>
                      </a:r>
                    </a:p>
                  </a:txBody>
                  <a:tcPr marL="91440" marR="91440">
                    <a:solidFill>
                      <a:srgbClr val="141B2E"/>
                    </a:solidFill>
                  </a:tcPr>
                </a:tc>
                <a:tc>
                  <a:txBody>
                    <a:bodyPr/>
                    <a:lstStyle/>
                    <a:p>
                      <a:pPr>
                        <a:defRPr sz="1900" b="0">
                          <a:solidFill>
                            <a:srgbClr val="E9EDF5"/>
                          </a:solidFill>
                          <a:latin typeface="Aptos"/>
                        </a:defRPr>
                      </a:pPr>
                      <a:r>
                        <a:t>max_depth=5; min_samples_split=2; balanced</a:t>
                      </a:r>
                    </a:p>
                  </a:txBody>
                  <a:tcPr marL="91440" marR="91440">
                    <a:solidFill>
                      <a:srgbClr val="141B2E"/>
                    </a:solidFill>
                  </a:tcPr>
                </a:tc>
                <a:tc>
                  <a:txBody>
                    <a:bodyPr/>
                    <a:lstStyle/>
                    <a:p>
                      <a:pPr>
                        <a:defRPr sz="1900" b="0">
                          <a:solidFill>
                            <a:srgbClr val="E9EDF5"/>
                          </a:solidFill>
                          <a:latin typeface="Aptos"/>
                        </a:defRPr>
                      </a:pPr>
                      <a:r>
                        <a:t>0,6147</a:t>
                      </a:r>
                    </a:p>
                  </a:txBody>
                  <a:tcPr marL="91440" marR="91440">
                    <a:solidFill>
                      <a:srgbClr val="141B2E"/>
                    </a:solidFill>
                  </a:tcPr>
                </a:tc>
              </a:tr>
              <a:tr h="800100">
                <a:tc>
                  <a:txBody>
                    <a:bodyPr/>
                    <a:lstStyle/>
                    <a:p>
                      <a:pPr>
                        <a:defRPr sz="1900" b="0">
                          <a:solidFill>
                            <a:srgbClr val="E9EDF5"/>
                          </a:solidFill>
                          <a:latin typeface="Aptos"/>
                        </a:defRPr>
                      </a:pPr>
                      <a:r>
                        <a:t>Random Forest</a:t>
                      </a:r>
                    </a:p>
                  </a:txBody>
                  <a:tcPr marL="91440" marR="91440">
                    <a:solidFill>
                      <a:srgbClr val="141B2E"/>
                    </a:solidFill>
                  </a:tcPr>
                </a:tc>
                <a:tc>
                  <a:txBody>
                    <a:bodyPr/>
                    <a:lstStyle/>
                    <a:p>
                      <a:pPr>
                        <a:defRPr sz="1900" b="0">
                          <a:solidFill>
                            <a:srgbClr val="E9EDF5"/>
                          </a:solidFill>
                          <a:latin typeface="Aptos"/>
                        </a:defRPr>
                      </a:pPr>
                      <a:r>
                        <a:t>200 pohon; depth=12; min_samples_split=5; balanced_subsample</a:t>
                      </a:r>
                    </a:p>
                  </a:txBody>
                  <a:tcPr marL="91440" marR="91440">
                    <a:solidFill>
                      <a:srgbClr val="141B2E"/>
                    </a:solidFill>
                  </a:tcPr>
                </a:tc>
                <a:tc>
                  <a:txBody>
                    <a:bodyPr/>
                    <a:lstStyle/>
                    <a:p>
                      <a:pPr>
                        <a:defRPr sz="1900" b="0">
                          <a:solidFill>
                            <a:srgbClr val="E9EDF5"/>
                          </a:solidFill>
                          <a:latin typeface="Aptos"/>
                        </a:defRPr>
                      </a:pPr>
                      <a:r>
                        <a:t>0,6260</a:t>
                      </a:r>
                    </a:p>
                  </a:txBody>
                  <a:tcPr marL="91440" marR="91440">
                    <a:solidFill>
                      <a:srgbClr val="141B2E"/>
                    </a:solidFill>
                  </a:tcPr>
                </a:tc>
              </a:tr>
            </a:tbl>
          </a:graphicData>
        </a:graphic>
      </p:graphicFrame>
      <p:sp>
        <p:nvSpPr>
          <p:cNvPr id="7" name="TextBox 6"/>
          <p:cNvSpPr txBox="1"/>
          <p:nvPr/>
        </p:nvSpPr>
        <p:spPr>
          <a:xfrm>
            <a:off x="594360" y="5166360"/>
            <a:ext cx="10972800" cy="914400"/>
          </a:xfrm>
          <a:prstGeom prst="rect">
            <a:avLst/>
          </a:prstGeom>
          <a:noFill/>
        </p:spPr>
        <p:txBody>
          <a:bodyPr wrap="square" lIns="18288" rIns="18288" tIns="0" bIns="0">
            <a:spAutoFit/>
          </a:bodyPr>
          <a:lstStyle/>
          <a:p>
            <a:pPr>
              <a:spcAft>
                <a:spcPts val="1000"/>
              </a:spcAft>
              <a:defRPr sz="1800" b="0">
                <a:solidFill>
                  <a:srgbClr val="AAB4C8"/>
                </a:solidFill>
                <a:latin typeface="Aptos"/>
              </a:defRPr>
            </a:pPr>
            <a:r>
              <a:t>Train 5.625; test 1.407. Grid: LR 6, DT 12, RF 8 konfigurasi × 5 fold = 130 fit CV, ditambah refit pemenang setiap model. Test tidak masuk fold 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Evaluasi &amp; perbandingan model inti</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Label positif: churn • threshold 0,50 • holdout yang sama</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16</a:t>
            </a:r>
          </a:p>
        </p:txBody>
      </p:sp>
      <p:graphicFrame>
        <p:nvGraphicFramePr>
          <p:cNvPr id="6" name="Table 5"/>
          <p:cNvGraphicFramePr>
            <a:graphicFrameLocks noGrp="1"/>
          </p:cNvGraphicFramePr>
          <p:nvPr/>
        </p:nvGraphicFramePr>
        <p:xfrm>
          <a:off x="548640" y="1691640"/>
          <a:ext cx="11064240" cy="2377440"/>
        </p:xfrm>
        <a:graphic>
          <a:graphicData uri="http://schemas.openxmlformats.org/drawingml/2006/table">
            <a:tbl>
              <a:tblPr firstRow="1" bandRow="1">
                <a:tableStyleId>{5C22544A-7EE6-4342-B048-85BDC9FD1C3A}</a:tableStyleId>
              </a:tblPr>
              <a:tblGrid>
                <a:gridCol w="2766060"/>
                <a:gridCol w="1383030"/>
                <a:gridCol w="1383030"/>
                <a:gridCol w="1383030"/>
                <a:gridCol w="1383030"/>
                <a:gridCol w="1383030"/>
                <a:gridCol w="1383030"/>
              </a:tblGrid>
              <a:tr h="594360">
                <a:tc>
                  <a:txBody>
                    <a:bodyPr/>
                    <a:lstStyle/>
                    <a:p>
                      <a:pPr>
                        <a:defRPr sz="1800" b="1">
                          <a:solidFill>
                            <a:srgbClr val="E9EDF5"/>
                          </a:solidFill>
                          <a:latin typeface="Aptos"/>
                        </a:defRPr>
                      </a:pPr>
                      <a:r>
                        <a:t>Model</a:t>
                      </a:r>
                    </a:p>
                  </a:txBody>
                  <a:tcPr marL="91440" marR="91440">
                    <a:solidFill>
                      <a:srgbClr val="7C3AED"/>
                    </a:solidFill>
                  </a:tcPr>
                </a:tc>
                <a:tc>
                  <a:txBody>
                    <a:bodyPr/>
                    <a:lstStyle/>
                    <a:p>
                      <a:pPr>
                        <a:defRPr sz="1800" b="1">
                          <a:solidFill>
                            <a:srgbClr val="E9EDF5"/>
                          </a:solidFill>
                          <a:latin typeface="Aptos"/>
                        </a:defRPr>
                      </a:pPr>
                      <a:r>
                        <a:t>CV-F1</a:t>
                      </a:r>
                    </a:p>
                  </a:txBody>
                  <a:tcPr marL="91440" marR="91440">
                    <a:solidFill>
                      <a:srgbClr val="7C3AED"/>
                    </a:solidFill>
                  </a:tcPr>
                </a:tc>
                <a:tc>
                  <a:txBody>
                    <a:bodyPr/>
                    <a:lstStyle/>
                    <a:p>
                      <a:pPr>
                        <a:defRPr sz="1800" b="1">
                          <a:solidFill>
                            <a:srgbClr val="E9EDF5"/>
                          </a:solidFill>
                          <a:latin typeface="Aptos"/>
                        </a:defRPr>
                      </a:pPr>
                      <a:r>
                        <a:t>Accuracy</a:t>
                      </a:r>
                    </a:p>
                  </a:txBody>
                  <a:tcPr marL="91440" marR="91440">
                    <a:solidFill>
                      <a:srgbClr val="7C3AED"/>
                    </a:solidFill>
                  </a:tcPr>
                </a:tc>
                <a:tc>
                  <a:txBody>
                    <a:bodyPr/>
                    <a:lstStyle/>
                    <a:p>
                      <a:pPr>
                        <a:defRPr sz="1800" b="1">
                          <a:solidFill>
                            <a:srgbClr val="E9EDF5"/>
                          </a:solidFill>
                          <a:latin typeface="Aptos"/>
                        </a:defRPr>
                      </a:pPr>
                      <a:r>
                        <a:t>Precision</a:t>
                      </a:r>
                    </a:p>
                  </a:txBody>
                  <a:tcPr marL="91440" marR="91440">
                    <a:solidFill>
                      <a:srgbClr val="7C3AED"/>
                    </a:solidFill>
                  </a:tcPr>
                </a:tc>
                <a:tc>
                  <a:txBody>
                    <a:bodyPr/>
                    <a:lstStyle/>
                    <a:p>
                      <a:pPr>
                        <a:defRPr sz="1800" b="1">
                          <a:solidFill>
                            <a:srgbClr val="E9EDF5"/>
                          </a:solidFill>
                          <a:latin typeface="Aptos"/>
                        </a:defRPr>
                      </a:pPr>
                      <a:r>
                        <a:t>Recall</a:t>
                      </a:r>
                    </a:p>
                  </a:txBody>
                  <a:tcPr marL="91440" marR="91440">
                    <a:solidFill>
                      <a:srgbClr val="7C3AED"/>
                    </a:solidFill>
                  </a:tcPr>
                </a:tc>
                <a:tc>
                  <a:txBody>
                    <a:bodyPr/>
                    <a:lstStyle/>
                    <a:p>
                      <a:pPr>
                        <a:defRPr sz="1800" b="1">
                          <a:solidFill>
                            <a:srgbClr val="E9EDF5"/>
                          </a:solidFill>
                          <a:latin typeface="Aptos"/>
                        </a:defRPr>
                      </a:pPr>
                      <a:r>
                        <a:t>F1</a:t>
                      </a:r>
                    </a:p>
                  </a:txBody>
                  <a:tcPr marL="91440" marR="91440">
                    <a:solidFill>
                      <a:srgbClr val="7C3AED"/>
                    </a:solidFill>
                  </a:tcPr>
                </a:tc>
                <a:tc>
                  <a:txBody>
                    <a:bodyPr/>
                    <a:lstStyle/>
                    <a:p>
                      <a:pPr>
                        <a:defRPr sz="1800" b="1">
                          <a:solidFill>
                            <a:srgbClr val="E9EDF5"/>
                          </a:solidFill>
                          <a:latin typeface="Aptos"/>
                        </a:defRPr>
                      </a:pPr>
                      <a:r>
                        <a:t>AUC</a:t>
                      </a:r>
                    </a:p>
                  </a:txBody>
                  <a:tcPr marL="91440" marR="91440">
                    <a:solidFill>
                      <a:srgbClr val="7C3AED"/>
                    </a:solidFill>
                  </a:tcPr>
                </a:tc>
              </a:tr>
              <a:tr h="594360">
                <a:tc>
                  <a:txBody>
                    <a:bodyPr/>
                    <a:lstStyle/>
                    <a:p>
                      <a:pPr>
                        <a:defRPr sz="1800" b="0">
                          <a:solidFill>
                            <a:srgbClr val="E9EDF5"/>
                          </a:solidFill>
                          <a:latin typeface="Aptos"/>
                        </a:defRPr>
                      </a:pPr>
                      <a:r>
                        <a:t>LogisticRegression</a:t>
                      </a:r>
                    </a:p>
                  </a:txBody>
                  <a:tcPr marL="91440" marR="91440">
                    <a:solidFill>
                      <a:srgbClr val="141B2E"/>
                    </a:solidFill>
                  </a:tcPr>
                </a:tc>
                <a:tc>
                  <a:txBody>
                    <a:bodyPr/>
                    <a:lstStyle/>
                    <a:p>
                      <a:pPr>
                        <a:defRPr sz="1800" b="0">
                          <a:solidFill>
                            <a:srgbClr val="E9EDF5"/>
                          </a:solidFill>
                          <a:latin typeface="Aptos"/>
                        </a:defRPr>
                      </a:pPr>
                      <a:r>
                        <a:t>0.6304</a:t>
                      </a:r>
                    </a:p>
                  </a:txBody>
                  <a:tcPr marL="91440" marR="91440">
                    <a:solidFill>
                      <a:srgbClr val="141B2E"/>
                    </a:solidFill>
                  </a:tcPr>
                </a:tc>
                <a:tc>
                  <a:txBody>
                    <a:bodyPr/>
                    <a:lstStyle/>
                    <a:p>
                      <a:pPr>
                        <a:defRPr sz="1800" b="0">
                          <a:solidFill>
                            <a:srgbClr val="E9EDF5"/>
                          </a:solidFill>
                          <a:latin typeface="Aptos"/>
                        </a:defRPr>
                      </a:pPr>
                      <a:r>
                        <a:t>0.7264</a:t>
                      </a:r>
                    </a:p>
                  </a:txBody>
                  <a:tcPr marL="91440" marR="91440">
                    <a:solidFill>
                      <a:srgbClr val="141B2E"/>
                    </a:solidFill>
                  </a:tcPr>
                </a:tc>
                <a:tc>
                  <a:txBody>
                    <a:bodyPr/>
                    <a:lstStyle/>
                    <a:p>
                      <a:pPr>
                        <a:defRPr sz="1800" b="0">
                          <a:solidFill>
                            <a:srgbClr val="E9EDF5"/>
                          </a:solidFill>
                          <a:latin typeface="Aptos"/>
                        </a:defRPr>
                      </a:pPr>
                      <a:r>
                        <a:t>0.4908</a:t>
                      </a:r>
                    </a:p>
                  </a:txBody>
                  <a:tcPr marL="91440" marR="91440">
                    <a:solidFill>
                      <a:srgbClr val="141B2E"/>
                    </a:solidFill>
                  </a:tcPr>
                </a:tc>
                <a:tc>
                  <a:txBody>
                    <a:bodyPr/>
                    <a:lstStyle/>
                    <a:p>
                      <a:pPr>
                        <a:defRPr sz="1800" b="0">
                          <a:solidFill>
                            <a:srgbClr val="E9EDF5"/>
                          </a:solidFill>
                          <a:latin typeface="Aptos"/>
                        </a:defRPr>
                      </a:pPr>
                      <a:r>
                        <a:t>0.7861</a:t>
                      </a:r>
                    </a:p>
                  </a:txBody>
                  <a:tcPr marL="91440" marR="91440">
                    <a:solidFill>
                      <a:srgbClr val="141B2E"/>
                    </a:solidFill>
                  </a:tcPr>
                </a:tc>
                <a:tc>
                  <a:txBody>
                    <a:bodyPr/>
                    <a:lstStyle/>
                    <a:p>
                      <a:pPr>
                        <a:defRPr sz="1800" b="0">
                          <a:solidFill>
                            <a:srgbClr val="E9EDF5"/>
                          </a:solidFill>
                          <a:latin typeface="Aptos"/>
                        </a:defRPr>
                      </a:pPr>
                      <a:r>
                        <a:t>0.6043</a:t>
                      </a:r>
                    </a:p>
                  </a:txBody>
                  <a:tcPr marL="91440" marR="91440">
                    <a:solidFill>
                      <a:srgbClr val="141B2E"/>
                    </a:solidFill>
                  </a:tcPr>
                </a:tc>
                <a:tc>
                  <a:txBody>
                    <a:bodyPr/>
                    <a:lstStyle/>
                    <a:p>
                      <a:pPr>
                        <a:defRPr sz="1800" b="0">
                          <a:solidFill>
                            <a:srgbClr val="E9EDF5"/>
                          </a:solidFill>
                          <a:latin typeface="Aptos"/>
                        </a:defRPr>
                      </a:pPr>
                      <a:r>
                        <a:t>0.8321</a:t>
                      </a:r>
                    </a:p>
                  </a:txBody>
                  <a:tcPr marL="91440" marR="91440">
                    <a:solidFill>
                      <a:srgbClr val="141B2E"/>
                    </a:solidFill>
                  </a:tcPr>
                </a:tc>
              </a:tr>
              <a:tr h="594360">
                <a:tc>
                  <a:txBody>
                    <a:bodyPr/>
                    <a:lstStyle/>
                    <a:p>
                      <a:pPr>
                        <a:defRPr sz="1800" b="0">
                          <a:solidFill>
                            <a:srgbClr val="E9EDF5"/>
                          </a:solidFill>
                          <a:latin typeface="Aptos"/>
                        </a:defRPr>
                      </a:pPr>
                      <a:r>
                        <a:t>RandomForest</a:t>
                      </a:r>
                    </a:p>
                  </a:txBody>
                  <a:tcPr marL="91440" marR="91440">
                    <a:solidFill>
                      <a:srgbClr val="141B2E"/>
                    </a:solidFill>
                  </a:tcPr>
                </a:tc>
                <a:tc>
                  <a:txBody>
                    <a:bodyPr/>
                    <a:lstStyle/>
                    <a:p>
                      <a:pPr>
                        <a:defRPr sz="1800" b="0">
                          <a:solidFill>
                            <a:srgbClr val="E9EDF5"/>
                          </a:solidFill>
                          <a:latin typeface="Aptos"/>
                        </a:defRPr>
                      </a:pPr>
                      <a:r>
                        <a:t>0.6260</a:t>
                      </a:r>
                    </a:p>
                  </a:txBody>
                  <a:tcPr marL="91440" marR="91440">
                    <a:solidFill>
                      <a:srgbClr val="141B2E"/>
                    </a:solidFill>
                  </a:tcPr>
                </a:tc>
                <a:tc>
                  <a:txBody>
                    <a:bodyPr/>
                    <a:lstStyle/>
                    <a:p>
                      <a:pPr>
                        <a:defRPr sz="1800" b="0">
                          <a:solidFill>
                            <a:srgbClr val="E9EDF5"/>
                          </a:solidFill>
                          <a:latin typeface="Aptos"/>
                        </a:defRPr>
                      </a:pPr>
                      <a:r>
                        <a:t>0.7697</a:t>
                      </a:r>
                    </a:p>
                  </a:txBody>
                  <a:tcPr marL="91440" marR="91440">
                    <a:solidFill>
                      <a:srgbClr val="141B2E"/>
                    </a:solidFill>
                  </a:tcPr>
                </a:tc>
                <a:tc>
                  <a:txBody>
                    <a:bodyPr/>
                    <a:lstStyle/>
                    <a:p>
                      <a:pPr>
                        <a:defRPr sz="1800" b="0">
                          <a:solidFill>
                            <a:srgbClr val="E9EDF5"/>
                          </a:solidFill>
                          <a:latin typeface="Aptos"/>
                        </a:defRPr>
                      </a:pPr>
                      <a:r>
                        <a:t>0.5548</a:t>
                      </a:r>
                    </a:p>
                  </a:txBody>
                  <a:tcPr marL="91440" marR="91440">
                    <a:solidFill>
                      <a:srgbClr val="141B2E"/>
                    </a:solidFill>
                  </a:tcPr>
                </a:tc>
                <a:tc>
                  <a:txBody>
                    <a:bodyPr/>
                    <a:lstStyle/>
                    <a:p>
                      <a:pPr>
                        <a:defRPr sz="1800" b="0">
                          <a:solidFill>
                            <a:srgbClr val="E9EDF5"/>
                          </a:solidFill>
                          <a:latin typeface="Aptos"/>
                        </a:defRPr>
                      </a:pPr>
                      <a:r>
                        <a:t>0.6765</a:t>
                      </a:r>
                    </a:p>
                  </a:txBody>
                  <a:tcPr marL="91440" marR="91440">
                    <a:solidFill>
                      <a:srgbClr val="141B2E"/>
                    </a:solidFill>
                  </a:tcPr>
                </a:tc>
                <a:tc>
                  <a:txBody>
                    <a:bodyPr/>
                    <a:lstStyle/>
                    <a:p>
                      <a:pPr>
                        <a:defRPr sz="1800" b="0">
                          <a:solidFill>
                            <a:srgbClr val="E9EDF5"/>
                          </a:solidFill>
                          <a:latin typeface="Aptos"/>
                        </a:defRPr>
                      </a:pPr>
                      <a:r>
                        <a:t>0.6096</a:t>
                      </a:r>
                    </a:p>
                  </a:txBody>
                  <a:tcPr marL="91440" marR="91440">
                    <a:solidFill>
                      <a:srgbClr val="141B2E"/>
                    </a:solidFill>
                  </a:tcPr>
                </a:tc>
                <a:tc>
                  <a:txBody>
                    <a:bodyPr/>
                    <a:lstStyle/>
                    <a:p>
                      <a:pPr>
                        <a:defRPr sz="1800" b="0">
                          <a:solidFill>
                            <a:srgbClr val="E9EDF5"/>
                          </a:solidFill>
                          <a:latin typeface="Aptos"/>
                        </a:defRPr>
                      </a:pPr>
                      <a:r>
                        <a:t>0.8235</a:t>
                      </a:r>
                    </a:p>
                  </a:txBody>
                  <a:tcPr marL="91440" marR="91440">
                    <a:solidFill>
                      <a:srgbClr val="141B2E"/>
                    </a:solidFill>
                  </a:tcPr>
                </a:tc>
              </a:tr>
              <a:tr h="594360">
                <a:tc>
                  <a:txBody>
                    <a:bodyPr/>
                    <a:lstStyle/>
                    <a:p>
                      <a:pPr>
                        <a:defRPr sz="1800" b="0">
                          <a:solidFill>
                            <a:srgbClr val="E9EDF5"/>
                          </a:solidFill>
                          <a:latin typeface="Aptos"/>
                        </a:defRPr>
                      </a:pPr>
                      <a:r>
                        <a:t>DecisionTree</a:t>
                      </a:r>
                    </a:p>
                  </a:txBody>
                  <a:tcPr marL="91440" marR="91440">
                    <a:solidFill>
                      <a:srgbClr val="141B2E"/>
                    </a:solidFill>
                  </a:tcPr>
                </a:tc>
                <a:tc>
                  <a:txBody>
                    <a:bodyPr/>
                    <a:lstStyle/>
                    <a:p>
                      <a:pPr>
                        <a:defRPr sz="1800" b="0">
                          <a:solidFill>
                            <a:srgbClr val="E9EDF5"/>
                          </a:solidFill>
                          <a:latin typeface="Aptos"/>
                        </a:defRPr>
                      </a:pPr>
                      <a:r>
                        <a:t>0.6147</a:t>
                      </a:r>
                    </a:p>
                  </a:txBody>
                  <a:tcPr marL="91440" marR="91440">
                    <a:solidFill>
                      <a:srgbClr val="141B2E"/>
                    </a:solidFill>
                  </a:tcPr>
                </a:tc>
                <a:tc>
                  <a:txBody>
                    <a:bodyPr/>
                    <a:lstStyle/>
                    <a:p>
                      <a:pPr>
                        <a:defRPr sz="1800" b="0">
                          <a:solidFill>
                            <a:srgbClr val="E9EDF5"/>
                          </a:solidFill>
                          <a:latin typeface="Aptos"/>
                        </a:defRPr>
                      </a:pPr>
                      <a:r>
                        <a:t>0.7363</a:t>
                      </a:r>
                    </a:p>
                  </a:txBody>
                  <a:tcPr marL="91440" marR="91440">
                    <a:solidFill>
                      <a:srgbClr val="141B2E"/>
                    </a:solidFill>
                  </a:tcPr>
                </a:tc>
                <a:tc>
                  <a:txBody>
                    <a:bodyPr/>
                    <a:lstStyle/>
                    <a:p>
                      <a:pPr>
                        <a:defRPr sz="1800" b="0">
                          <a:solidFill>
                            <a:srgbClr val="E9EDF5"/>
                          </a:solidFill>
                          <a:latin typeface="Aptos"/>
                        </a:defRPr>
                      </a:pPr>
                      <a:r>
                        <a:t>0.5025</a:t>
                      </a:r>
                    </a:p>
                  </a:txBody>
                  <a:tcPr marL="91440" marR="91440">
                    <a:solidFill>
                      <a:srgbClr val="141B2E"/>
                    </a:solidFill>
                  </a:tcPr>
                </a:tc>
                <a:tc>
                  <a:txBody>
                    <a:bodyPr/>
                    <a:lstStyle/>
                    <a:p>
                      <a:pPr>
                        <a:defRPr sz="1800" b="0">
                          <a:solidFill>
                            <a:srgbClr val="E9EDF5"/>
                          </a:solidFill>
                          <a:latin typeface="Aptos"/>
                        </a:defRPr>
                      </a:pPr>
                      <a:r>
                        <a:t>0.7968</a:t>
                      </a:r>
                    </a:p>
                  </a:txBody>
                  <a:tcPr marL="91440" marR="91440">
                    <a:solidFill>
                      <a:srgbClr val="141B2E"/>
                    </a:solidFill>
                  </a:tcPr>
                </a:tc>
                <a:tc>
                  <a:txBody>
                    <a:bodyPr/>
                    <a:lstStyle/>
                    <a:p>
                      <a:pPr>
                        <a:defRPr sz="1800" b="0">
                          <a:solidFill>
                            <a:srgbClr val="E9EDF5"/>
                          </a:solidFill>
                          <a:latin typeface="Aptos"/>
                        </a:defRPr>
                      </a:pPr>
                      <a:r>
                        <a:t>0.6163</a:t>
                      </a:r>
                    </a:p>
                  </a:txBody>
                  <a:tcPr marL="91440" marR="91440">
                    <a:solidFill>
                      <a:srgbClr val="141B2E"/>
                    </a:solidFill>
                  </a:tcPr>
                </a:tc>
                <a:tc>
                  <a:txBody>
                    <a:bodyPr/>
                    <a:lstStyle/>
                    <a:p>
                      <a:pPr>
                        <a:defRPr sz="1800" b="0">
                          <a:solidFill>
                            <a:srgbClr val="E9EDF5"/>
                          </a:solidFill>
                          <a:latin typeface="Aptos"/>
                        </a:defRPr>
                      </a:pPr>
                      <a:r>
                        <a:t>0.8305</a:t>
                      </a:r>
                    </a:p>
                  </a:txBody>
                  <a:tcPr marL="91440" marR="91440">
                    <a:solidFill>
                      <a:srgbClr val="141B2E"/>
                    </a:solidFill>
                  </a:tcPr>
                </a:tc>
              </a:tr>
            </a:tbl>
          </a:graphicData>
        </a:graphic>
      </p:graphicFrame>
      <p:sp>
        <p:nvSpPr>
          <p:cNvPr id="7" name="TextBox 6"/>
          <p:cNvSpPr txBox="1"/>
          <p:nvPr/>
        </p:nvSpPr>
        <p:spPr>
          <a:xfrm>
            <a:off x="594360" y="4480560"/>
            <a:ext cx="10972800" cy="1371600"/>
          </a:xfrm>
          <a:prstGeom prst="rect">
            <a:avLst/>
          </a:prstGeom>
          <a:noFill/>
        </p:spPr>
        <p:txBody>
          <a:bodyPr wrap="square" lIns="18288" rIns="18288" tIns="0" bIns="0">
            <a:spAutoFit/>
          </a:bodyPr>
          <a:lstStyle/>
          <a:p>
            <a:pPr>
              <a:spcAft>
                <a:spcPts val="1000"/>
              </a:spcAft>
              <a:defRPr sz="2000" b="0">
                <a:solidFill>
                  <a:srgbClr val="E9EDF5"/>
                </a:solidFill>
                <a:latin typeface="Aptos"/>
              </a:defRPr>
            </a:pPr>
            <a:r>
              <a:t>LR dipilih dengan CV-F1 tertinggi pada train. DT memiliki recall/F1 test tertinggi; RF accuracy tertinggi. DT CV-F1 terendah; LR F1 test terendah di antara model inti. Selisih CV-F1 LR–RF hanya 0,0044, bukan bukti unggul mutlak.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Analisis model &amp; overfitting</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Gunakan train–validation–test, bukan accuracy saja</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17</a:t>
            </a:r>
          </a:p>
        </p:txBody>
      </p:sp>
      <p:pic>
        <p:nvPicPr>
          <p:cNvPr id="6" name="Picture 5" descr="overfitting.png"/>
          <p:cNvPicPr>
            <a:picLocks noChangeAspect="1"/>
          </p:cNvPicPr>
          <p:nvPr/>
        </p:nvPicPr>
        <p:blipFill>
          <a:blip r:embed="rId3"/>
          <a:stretch>
            <a:fillRect/>
          </a:stretch>
        </p:blipFill>
        <p:spPr>
          <a:xfrm>
            <a:off x="548640" y="2240249"/>
            <a:ext cx="6492240" cy="2834700"/>
          </a:xfrm>
          <a:prstGeom prst="rect">
            <a:avLst/>
          </a:prstGeom>
        </p:spPr>
      </p:pic>
      <p:sp>
        <p:nvSpPr>
          <p:cNvPr id="7" name="TextBox 6"/>
          <p:cNvSpPr txBox="1"/>
          <p:nvPr/>
        </p:nvSpPr>
        <p:spPr>
          <a:xfrm>
            <a:off x="7315200" y="1737360"/>
            <a:ext cx="4297680" cy="4480560"/>
          </a:xfrm>
          <a:prstGeom prst="rect">
            <a:avLst/>
          </a:prstGeom>
          <a:noFill/>
        </p:spPr>
        <p:txBody>
          <a:bodyPr wrap="square" lIns="18288" rIns="18288" tIns="0" bIns="0">
            <a:spAutoFit/>
          </a:bodyPr>
          <a:lstStyle/>
          <a:p>
            <a:pPr>
              <a:spcAft>
                <a:spcPts val="1000"/>
              </a:spcAft>
              <a:defRPr sz="1800" b="0">
                <a:solidFill>
                  <a:srgbClr val="E9EDF5"/>
                </a:solidFill>
                <a:latin typeface="Aptos"/>
              </a:defRPr>
            </a:pPr>
            <a:r>
              <a:t>• RF: F1 train 0,8217 vs test 0,6096 → indikasi overfitting.</a:t>
            </a:r>
          </a:p>
          <a:p>
            <a:pPr>
              <a:spcAft>
                <a:spcPts val="1000"/>
              </a:spcAft>
              <a:defRPr sz="1800" b="0">
                <a:solidFill>
                  <a:srgbClr val="E9EDF5"/>
                </a:solidFill>
                <a:latin typeface="Aptos"/>
              </a:defRPr>
            </a:pPr>
            <a:r>
              <a:t>• LR: train 0,6338 vs test 0,6043; gap lebih kecil.</a:t>
            </a:r>
          </a:p>
          <a:p>
            <a:pPr>
              <a:spcAft>
                <a:spcPts val="1000"/>
              </a:spcAft>
              <a:defRPr sz="1800" b="0">
                <a:solidFill>
                  <a:srgbClr val="E9EDF5"/>
                </a:solidFill>
                <a:latin typeface="Aptos"/>
              </a:defRPr>
            </a:pPr>
            <a:r>
              <a:t>• Baseline selalu tidak churn: accuracy 73,42%, recall churn 0.</a:t>
            </a:r>
          </a:p>
          <a:p>
            <a:pPr>
              <a:spcAft>
                <a:spcPts val="1000"/>
              </a:spcAft>
              <a:defRPr sz="1800" b="0">
                <a:solidFill>
                  <a:srgbClr val="E9EDF5"/>
                </a:solidFill>
                <a:latin typeface="Aptos"/>
              </a:defRPr>
            </a:pPr>
            <a:r>
              <a:t>• Kompleksitas, regularisasi, class_weight dan interaksi dapat memengaruhi hasil.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Kalibrasi &amp; pemilihan threshold</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Model aplikasi: LR + sigmoid calibration 5-fold, train-only</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18</a:t>
            </a:r>
          </a:p>
        </p:txBody>
      </p:sp>
      <p:pic>
        <p:nvPicPr>
          <p:cNvPr id="6" name="Picture 5" descr="threshold_train.png"/>
          <p:cNvPicPr>
            <a:picLocks noChangeAspect="1"/>
          </p:cNvPicPr>
          <p:nvPr/>
        </p:nvPicPr>
        <p:blipFill>
          <a:blip r:embed="rId3"/>
          <a:stretch>
            <a:fillRect/>
          </a:stretch>
        </p:blipFill>
        <p:spPr>
          <a:xfrm>
            <a:off x="548640" y="1905091"/>
            <a:ext cx="6492240" cy="2864937"/>
          </a:xfrm>
          <a:prstGeom prst="rect">
            <a:avLst/>
          </a:prstGeom>
        </p:spPr>
      </p:pic>
      <p:sp>
        <p:nvSpPr>
          <p:cNvPr id="7" name="TextBox 6"/>
          <p:cNvSpPr txBox="1"/>
          <p:nvPr/>
        </p:nvSpPr>
        <p:spPr>
          <a:xfrm>
            <a:off x="7315200" y="1737360"/>
            <a:ext cx="4297680" cy="4480560"/>
          </a:xfrm>
          <a:prstGeom prst="rect">
            <a:avLst/>
          </a:prstGeom>
          <a:noFill/>
        </p:spPr>
        <p:txBody>
          <a:bodyPr wrap="square" lIns="18288" rIns="18288" tIns="0" bIns="0">
            <a:spAutoFit/>
          </a:bodyPr>
          <a:lstStyle/>
          <a:p>
            <a:pPr>
              <a:spcAft>
                <a:spcPts val="1000"/>
              </a:spcAft>
              <a:defRPr sz="1800" b="0">
                <a:solidFill>
                  <a:srgbClr val="E9EDF5"/>
                </a:solidFill>
                <a:latin typeface="Aptos"/>
              </a:defRPr>
            </a:pPr>
            <a:r>
              <a:t>• Grid threshold 0,10–0,60; langkah 0,01.</a:t>
            </a:r>
          </a:p>
          <a:p>
            <a:pPr>
              <a:spcAft>
                <a:spcPts val="1000"/>
              </a:spcAft>
              <a:defRPr sz="1800" b="0">
                <a:solidFill>
                  <a:srgbClr val="E9EDF5"/>
                </a:solidFill>
                <a:latin typeface="Aptos"/>
              </a:defRPr>
            </a:pPr>
            <a:r>
              <a:t>• F1 maksimum prediksi OOF train → threshold 0,32.</a:t>
            </a:r>
          </a:p>
          <a:p>
            <a:pPr>
              <a:spcAft>
                <a:spcPts val="1000"/>
              </a:spcAft>
              <a:defRPr sz="1800" b="0">
                <a:solidFill>
                  <a:srgbClr val="E9EDF5"/>
                </a:solidFill>
                <a:latin typeface="Aptos"/>
              </a:defRPr>
            </a:pPr>
            <a:r>
              <a:t>• Kalibrasi di dalam setiap outer training fold.</a:t>
            </a:r>
          </a:p>
          <a:p>
            <a:pPr>
              <a:spcAft>
                <a:spcPts val="1000"/>
              </a:spcAft>
              <a:defRPr sz="1800" b="0">
                <a:solidFill>
                  <a:srgbClr val="E9EDF5"/>
                </a:solidFill>
                <a:latin typeface="Aptos"/>
              </a:defRPr>
            </a:pPr>
            <a:r>
              <a:t>• OOF F1 0,6338 adalah skor tuning, bukan estimasi independen.</a:t>
            </a:r>
          </a:p>
          <a:p>
            <a:pPr>
              <a:spcAft>
                <a:spcPts val="1000"/>
              </a:spcAft>
              <a:defRPr sz="1800" b="0">
                <a:solidFill>
                  <a:srgbClr val="E9EDF5"/>
                </a:solidFill>
                <a:latin typeface="Aptos"/>
              </a:defRPr>
            </a:pPr>
            <a:r>
              <a:t>• CHURN jika probabilitas ≥32%; TETAP jika lebih rendah.</a:t>
            </a:r>
          </a:p>
        </p:txBody>
      </p:sp>
      <p:sp>
        <p:nvSpPr>
          <p:cNvPr id="8" name="TextBox 7"/>
          <p:cNvSpPr txBox="1"/>
          <p:nvPr/>
        </p:nvSpPr>
        <p:spPr>
          <a:xfrm>
            <a:off x="594360" y="5669280"/>
            <a:ext cx="10972800" cy="457200"/>
          </a:xfrm>
          <a:prstGeom prst="rect">
            <a:avLst/>
          </a:prstGeom>
          <a:noFill/>
        </p:spPr>
        <p:txBody>
          <a:bodyPr wrap="square" lIns="18288" rIns="18288" tIns="0" bIns="0">
            <a:spAutoFit/>
          </a:bodyPr>
          <a:lstStyle/>
          <a:p>
            <a:pPr>
              <a:spcAft>
                <a:spcPts val="1000"/>
              </a:spcAft>
              <a:defRPr sz="1700" b="0">
                <a:solidFill>
                  <a:srgbClr val="AAB4C8"/>
                </a:solidFill>
                <a:latin typeface="Aptos"/>
              </a:defRPr>
            </a:pPr>
            <a:r>
              <a:t>Hyperparameter inti telah dipilih pada train-CV. Test hanya dipakai untuk evaluasi akhir.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Evaluasi konfigurasi aplikasi</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Probabilitas dan keputusan berasal dari model yang sama</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19</a:t>
            </a:r>
          </a:p>
        </p:txBody>
      </p:sp>
      <p:graphicFrame>
        <p:nvGraphicFramePr>
          <p:cNvPr id="6" name="Table 5"/>
          <p:cNvGraphicFramePr>
            <a:graphicFrameLocks noGrp="1"/>
          </p:cNvGraphicFramePr>
          <p:nvPr/>
        </p:nvGraphicFramePr>
        <p:xfrm>
          <a:off x="548640" y="1691640"/>
          <a:ext cx="11064240" cy="2286000"/>
        </p:xfrm>
        <a:graphic>
          <a:graphicData uri="http://schemas.openxmlformats.org/drawingml/2006/table">
            <a:tbl>
              <a:tblPr firstRow="1" bandRow="1">
                <a:tableStyleId>{5C22544A-7EE6-4342-B048-85BDC9FD1C3A}</a:tableStyleId>
              </a:tblPr>
              <a:tblGrid>
                <a:gridCol w="2766060"/>
                <a:gridCol w="1383030"/>
                <a:gridCol w="1383030"/>
                <a:gridCol w="1383030"/>
                <a:gridCol w="1383030"/>
                <a:gridCol w="1383030"/>
                <a:gridCol w="1383030"/>
              </a:tblGrid>
              <a:tr h="762000">
                <a:tc>
                  <a:txBody>
                    <a:bodyPr/>
                    <a:lstStyle/>
                    <a:p>
                      <a:pPr>
                        <a:defRPr sz="1900" b="1">
                          <a:solidFill>
                            <a:srgbClr val="E9EDF5"/>
                          </a:solidFill>
                          <a:latin typeface="Aptos"/>
                        </a:defRPr>
                      </a:pPr>
                      <a:r>
                        <a:t>Konfigurasi</a:t>
                      </a:r>
                    </a:p>
                  </a:txBody>
                  <a:tcPr marL="91440" marR="91440">
                    <a:solidFill>
                      <a:srgbClr val="7C3AED"/>
                    </a:solidFill>
                  </a:tcPr>
                </a:tc>
                <a:tc>
                  <a:txBody>
                    <a:bodyPr/>
                    <a:lstStyle/>
                    <a:p>
                      <a:pPr>
                        <a:defRPr sz="1900" b="1">
                          <a:solidFill>
                            <a:srgbClr val="E9EDF5"/>
                          </a:solidFill>
                          <a:latin typeface="Aptos"/>
                        </a:defRPr>
                      </a:pPr>
                      <a:r>
                        <a:t>Accuracy</a:t>
                      </a:r>
                    </a:p>
                  </a:txBody>
                  <a:tcPr marL="91440" marR="91440">
                    <a:solidFill>
                      <a:srgbClr val="7C3AED"/>
                    </a:solidFill>
                  </a:tcPr>
                </a:tc>
                <a:tc>
                  <a:txBody>
                    <a:bodyPr/>
                    <a:lstStyle/>
                    <a:p>
                      <a:pPr>
                        <a:defRPr sz="1900" b="1">
                          <a:solidFill>
                            <a:srgbClr val="E9EDF5"/>
                          </a:solidFill>
                          <a:latin typeface="Aptos"/>
                        </a:defRPr>
                      </a:pPr>
                      <a:r>
                        <a:t>Precision</a:t>
                      </a:r>
                    </a:p>
                  </a:txBody>
                  <a:tcPr marL="91440" marR="91440">
                    <a:solidFill>
                      <a:srgbClr val="7C3AED"/>
                    </a:solidFill>
                  </a:tcPr>
                </a:tc>
                <a:tc>
                  <a:txBody>
                    <a:bodyPr/>
                    <a:lstStyle/>
                    <a:p>
                      <a:pPr>
                        <a:defRPr sz="1900" b="1">
                          <a:solidFill>
                            <a:srgbClr val="E9EDF5"/>
                          </a:solidFill>
                          <a:latin typeface="Aptos"/>
                        </a:defRPr>
                      </a:pPr>
                      <a:r>
                        <a:t>Recall</a:t>
                      </a:r>
                    </a:p>
                  </a:txBody>
                  <a:tcPr marL="91440" marR="91440">
                    <a:solidFill>
                      <a:srgbClr val="7C3AED"/>
                    </a:solidFill>
                  </a:tcPr>
                </a:tc>
                <a:tc>
                  <a:txBody>
                    <a:bodyPr/>
                    <a:lstStyle/>
                    <a:p>
                      <a:pPr>
                        <a:defRPr sz="1900" b="1">
                          <a:solidFill>
                            <a:srgbClr val="E9EDF5"/>
                          </a:solidFill>
                          <a:latin typeface="Aptos"/>
                        </a:defRPr>
                      </a:pPr>
                      <a:r>
                        <a:t>F1</a:t>
                      </a:r>
                    </a:p>
                  </a:txBody>
                  <a:tcPr marL="91440" marR="91440">
                    <a:solidFill>
                      <a:srgbClr val="7C3AED"/>
                    </a:solidFill>
                  </a:tcPr>
                </a:tc>
                <a:tc>
                  <a:txBody>
                    <a:bodyPr/>
                    <a:lstStyle/>
                    <a:p>
                      <a:pPr>
                        <a:defRPr sz="1900" b="1">
                          <a:solidFill>
                            <a:srgbClr val="E9EDF5"/>
                          </a:solidFill>
                          <a:latin typeface="Aptos"/>
                        </a:defRPr>
                      </a:pPr>
                      <a:r>
                        <a:t>AUC</a:t>
                      </a:r>
                    </a:p>
                  </a:txBody>
                  <a:tcPr marL="91440" marR="91440">
                    <a:solidFill>
                      <a:srgbClr val="7C3AED"/>
                    </a:solidFill>
                  </a:tcPr>
                </a:tc>
                <a:tc>
                  <a:txBody>
                    <a:bodyPr/>
                    <a:lstStyle/>
                    <a:p>
                      <a:pPr>
                        <a:defRPr sz="1900" b="1">
                          <a:solidFill>
                            <a:srgbClr val="E9EDF5"/>
                          </a:solidFill>
                          <a:latin typeface="Aptos"/>
                        </a:defRPr>
                      </a:pPr>
                      <a:r>
                        <a:t>Brier</a:t>
                      </a:r>
                    </a:p>
                  </a:txBody>
                  <a:tcPr marL="91440" marR="91440">
                    <a:solidFill>
                      <a:srgbClr val="7C3AED"/>
                    </a:solidFill>
                  </a:tcPr>
                </a:tc>
              </a:tr>
              <a:tr h="762000">
                <a:tc>
                  <a:txBody>
                    <a:bodyPr/>
                    <a:lstStyle/>
                    <a:p>
                      <a:pPr>
                        <a:defRPr sz="1900" b="0">
                          <a:solidFill>
                            <a:srgbClr val="E9EDF5"/>
                          </a:solidFill>
                          <a:latin typeface="Aptos"/>
                        </a:defRPr>
                      </a:pPr>
                      <a:r>
                        <a:t>Threshold 0,32</a:t>
                      </a:r>
                    </a:p>
                  </a:txBody>
                  <a:tcPr marL="91440" marR="91440">
                    <a:solidFill>
                      <a:srgbClr val="141B2E"/>
                    </a:solidFill>
                  </a:tcPr>
                </a:tc>
                <a:tc>
                  <a:txBody>
                    <a:bodyPr/>
                    <a:lstStyle/>
                    <a:p>
                      <a:pPr>
                        <a:defRPr sz="1900" b="0">
                          <a:solidFill>
                            <a:srgbClr val="E9EDF5"/>
                          </a:solidFill>
                          <a:latin typeface="Aptos"/>
                        </a:defRPr>
                      </a:pPr>
                      <a:r>
                        <a:t>0.7569</a:t>
                      </a:r>
                    </a:p>
                  </a:txBody>
                  <a:tcPr marL="91440" marR="91440">
                    <a:solidFill>
                      <a:srgbClr val="141B2E"/>
                    </a:solidFill>
                  </a:tcPr>
                </a:tc>
                <a:tc>
                  <a:txBody>
                    <a:bodyPr/>
                    <a:lstStyle/>
                    <a:p>
                      <a:pPr>
                        <a:defRPr sz="1900" b="0">
                          <a:solidFill>
                            <a:srgbClr val="E9EDF5"/>
                          </a:solidFill>
                          <a:latin typeface="Aptos"/>
                        </a:defRPr>
                      </a:pPr>
                      <a:r>
                        <a:t>0.5309</a:t>
                      </a:r>
                    </a:p>
                  </a:txBody>
                  <a:tcPr marL="91440" marR="91440">
                    <a:solidFill>
                      <a:srgbClr val="141B2E"/>
                    </a:solidFill>
                  </a:tcPr>
                </a:tc>
                <a:tc>
                  <a:txBody>
                    <a:bodyPr/>
                    <a:lstStyle/>
                    <a:p>
                      <a:pPr>
                        <a:defRPr sz="1900" b="0">
                          <a:solidFill>
                            <a:srgbClr val="E9EDF5"/>
                          </a:solidFill>
                          <a:latin typeface="Aptos"/>
                        </a:defRPr>
                      </a:pPr>
                      <a:r>
                        <a:t>0.7353</a:t>
                      </a:r>
                    </a:p>
                  </a:txBody>
                  <a:tcPr marL="91440" marR="91440">
                    <a:solidFill>
                      <a:srgbClr val="141B2E"/>
                    </a:solidFill>
                  </a:tcPr>
                </a:tc>
                <a:tc>
                  <a:txBody>
                    <a:bodyPr/>
                    <a:lstStyle/>
                    <a:p>
                      <a:pPr>
                        <a:defRPr sz="1900" b="0">
                          <a:solidFill>
                            <a:srgbClr val="E9EDF5"/>
                          </a:solidFill>
                          <a:latin typeface="Aptos"/>
                        </a:defRPr>
                      </a:pPr>
                      <a:r>
                        <a:t>0.6166</a:t>
                      </a:r>
                    </a:p>
                  </a:txBody>
                  <a:tcPr marL="91440" marR="91440">
                    <a:solidFill>
                      <a:srgbClr val="141B2E"/>
                    </a:solidFill>
                  </a:tcPr>
                </a:tc>
                <a:tc>
                  <a:txBody>
                    <a:bodyPr/>
                    <a:lstStyle/>
                    <a:p>
                      <a:pPr>
                        <a:defRPr sz="1900" b="0">
                          <a:solidFill>
                            <a:srgbClr val="E9EDF5"/>
                          </a:solidFill>
                          <a:latin typeface="Aptos"/>
                        </a:defRPr>
                      </a:pPr>
                      <a:r>
                        <a:t>0.8324</a:t>
                      </a:r>
                    </a:p>
                  </a:txBody>
                  <a:tcPr marL="91440" marR="91440">
                    <a:solidFill>
                      <a:srgbClr val="141B2E"/>
                    </a:solidFill>
                  </a:tcPr>
                </a:tc>
                <a:tc>
                  <a:txBody>
                    <a:bodyPr/>
                    <a:lstStyle/>
                    <a:p>
                      <a:pPr>
                        <a:defRPr sz="1900" b="0">
                          <a:solidFill>
                            <a:srgbClr val="E9EDF5"/>
                          </a:solidFill>
                          <a:latin typeface="Aptos"/>
                        </a:defRPr>
                      </a:pPr>
                      <a:r>
                        <a:t>0.1414</a:t>
                      </a:r>
                    </a:p>
                  </a:txBody>
                  <a:tcPr marL="91440" marR="91440">
                    <a:solidFill>
                      <a:srgbClr val="141B2E"/>
                    </a:solidFill>
                  </a:tcPr>
                </a:tc>
              </a:tr>
              <a:tr h="762000">
                <a:tc>
                  <a:txBody>
                    <a:bodyPr/>
                    <a:lstStyle/>
                    <a:p>
                      <a:pPr>
                        <a:defRPr sz="1900" b="0">
                          <a:solidFill>
                            <a:srgbClr val="E9EDF5"/>
                          </a:solidFill>
                          <a:latin typeface="Aptos"/>
                        </a:defRPr>
                      </a:pPr>
                      <a:r>
                        <a:t>Threshold 0,50</a:t>
                      </a:r>
                    </a:p>
                  </a:txBody>
                  <a:tcPr marL="91440" marR="91440">
                    <a:solidFill>
                      <a:srgbClr val="141B2E"/>
                    </a:solidFill>
                  </a:tcPr>
                </a:tc>
                <a:tc>
                  <a:txBody>
                    <a:bodyPr/>
                    <a:lstStyle/>
                    <a:p>
                      <a:pPr>
                        <a:defRPr sz="1900" b="0">
                          <a:solidFill>
                            <a:srgbClr val="E9EDF5"/>
                          </a:solidFill>
                          <a:latin typeface="Aptos"/>
                        </a:defRPr>
                      </a:pPr>
                      <a:r>
                        <a:t>0.8024</a:t>
                      </a:r>
                    </a:p>
                  </a:txBody>
                  <a:tcPr marL="91440" marR="91440">
                    <a:solidFill>
                      <a:srgbClr val="141B2E"/>
                    </a:solidFill>
                  </a:tcPr>
                </a:tc>
                <a:tc>
                  <a:txBody>
                    <a:bodyPr/>
                    <a:lstStyle/>
                    <a:p>
                      <a:pPr>
                        <a:defRPr sz="1900" b="0">
                          <a:solidFill>
                            <a:srgbClr val="E9EDF5"/>
                          </a:solidFill>
                          <a:latin typeface="Aptos"/>
                        </a:defRPr>
                      </a:pPr>
                      <a:r>
                        <a:t>0.6472</a:t>
                      </a:r>
                    </a:p>
                  </a:txBody>
                  <a:tcPr marL="91440" marR="91440">
                    <a:solidFill>
                      <a:srgbClr val="141B2E"/>
                    </a:solidFill>
                  </a:tcPr>
                </a:tc>
                <a:tc>
                  <a:txBody>
                    <a:bodyPr/>
                    <a:lstStyle/>
                    <a:p>
                      <a:pPr>
                        <a:defRPr sz="1900" b="0">
                          <a:solidFill>
                            <a:srgbClr val="E9EDF5"/>
                          </a:solidFill>
                          <a:latin typeface="Aptos"/>
                        </a:defRPr>
                      </a:pPr>
                      <a:r>
                        <a:t>0.5642</a:t>
                      </a:r>
                    </a:p>
                  </a:txBody>
                  <a:tcPr marL="91440" marR="91440">
                    <a:solidFill>
                      <a:srgbClr val="141B2E"/>
                    </a:solidFill>
                  </a:tcPr>
                </a:tc>
                <a:tc>
                  <a:txBody>
                    <a:bodyPr/>
                    <a:lstStyle/>
                    <a:p>
                      <a:pPr>
                        <a:defRPr sz="1900" b="0">
                          <a:solidFill>
                            <a:srgbClr val="E9EDF5"/>
                          </a:solidFill>
                          <a:latin typeface="Aptos"/>
                        </a:defRPr>
                      </a:pPr>
                      <a:r>
                        <a:t>0.6029</a:t>
                      </a:r>
                    </a:p>
                  </a:txBody>
                  <a:tcPr marL="91440" marR="91440">
                    <a:solidFill>
                      <a:srgbClr val="141B2E"/>
                    </a:solidFill>
                  </a:tcPr>
                </a:tc>
                <a:tc>
                  <a:txBody>
                    <a:bodyPr/>
                    <a:lstStyle/>
                    <a:p>
                      <a:pPr>
                        <a:defRPr sz="1900" b="0">
                          <a:solidFill>
                            <a:srgbClr val="E9EDF5"/>
                          </a:solidFill>
                          <a:latin typeface="Aptos"/>
                        </a:defRPr>
                      </a:pPr>
                      <a:r>
                        <a:t>0.8324</a:t>
                      </a:r>
                    </a:p>
                  </a:txBody>
                  <a:tcPr marL="91440" marR="91440">
                    <a:solidFill>
                      <a:srgbClr val="141B2E"/>
                    </a:solidFill>
                  </a:tcPr>
                </a:tc>
                <a:tc>
                  <a:txBody>
                    <a:bodyPr/>
                    <a:lstStyle/>
                    <a:p>
                      <a:pPr>
                        <a:defRPr sz="1900" b="0">
                          <a:solidFill>
                            <a:srgbClr val="E9EDF5"/>
                          </a:solidFill>
                          <a:latin typeface="Aptos"/>
                        </a:defRPr>
                      </a:pPr>
                      <a:r>
                        <a:t>0.1414</a:t>
                      </a:r>
                    </a:p>
                  </a:txBody>
                  <a:tcPr marL="91440" marR="91440">
                    <a:solidFill>
                      <a:srgbClr val="141B2E"/>
                    </a:solidFill>
                  </a:tcPr>
                </a:tc>
              </a:tr>
            </a:tbl>
          </a:graphicData>
        </a:graphic>
      </p:graphicFrame>
      <p:sp>
        <p:nvSpPr>
          <p:cNvPr id="7" name="TextBox 6"/>
          <p:cNvSpPr txBox="1"/>
          <p:nvPr/>
        </p:nvSpPr>
        <p:spPr>
          <a:xfrm>
            <a:off x="594360" y="4389120"/>
            <a:ext cx="10972800" cy="1097280"/>
          </a:xfrm>
          <a:prstGeom prst="rect">
            <a:avLst/>
          </a:prstGeom>
          <a:noFill/>
        </p:spPr>
        <p:txBody>
          <a:bodyPr wrap="square" lIns="18288" rIns="18288" tIns="0" bIns="0">
            <a:spAutoFit/>
          </a:bodyPr>
          <a:lstStyle/>
          <a:p>
            <a:pPr>
              <a:spcAft>
                <a:spcPts val="1000"/>
              </a:spcAft>
              <a:defRPr sz="2100" b="0">
                <a:solidFill>
                  <a:srgbClr val="E9EDF5"/>
                </a:solidFill>
                <a:latin typeface="Aptos"/>
              </a:defRPr>
            </a:pPr>
            <a:r>
              <a:t>Threshold 0,32 mendeteksi 275 churn vs 211 pada 0,50; false alarm naik 115 → 243. Trade-off precision–recall; ROC-AUC/Brier tidak berubah jika hanya threshold diganti.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Confusion matrix &amp; kesalahan prediksi</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Test: 1.033 tidak churn dan 374 churn</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20</a:t>
            </a:r>
          </a:p>
        </p:txBody>
      </p:sp>
      <p:pic>
        <p:nvPicPr>
          <p:cNvPr id="6" name="Picture 5" descr="confusion_matrix_app.png"/>
          <p:cNvPicPr>
            <a:picLocks noChangeAspect="1"/>
          </p:cNvPicPr>
          <p:nvPr/>
        </p:nvPicPr>
        <p:blipFill>
          <a:blip r:embed="rId3"/>
          <a:stretch>
            <a:fillRect/>
          </a:stretch>
        </p:blipFill>
        <p:spPr>
          <a:xfrm>
            <a:off x="951012" y="1554480"/>
            <a:ext cx="5047414" cy="4480560"/>
          </a:xfrm>
          <a:prstGeom prst="rect">
            <a:avLst/>
          </a:prstGeom>
        </p:spPr>
      </p:pic>
      <p:sp>
        <p:nvSpPr>
          <p:cNvPr id="7" name="TextBox 6"/>
          <p:cNvSpPr txBox="1"/>
          <p:nvPr/>
        </p:nvSpPr>
        <p:spPr>
          <a:xfrm>
            <a:off x="6675120" y="1828800"/>
            <a:ext cx="4937760" cy="4389120"/>
          </a:xfrm>
          <a:prstGeom prst="rect">
            <a:avLst/>
          </a:prstGeom>
          <a:noFill/>
        </p:spPr>
        <p:txBody>
          <a:bodyPr wrap="square" lIns="18288" rIns="18288" tIns="0" bIns="0">
            <a:spAutoFit/>
          </a:bodyPr>
          <a:lstStyle/>
          <a:p>
            <a:pPr>
              <a:spcAft>
                <a:spcPts val="1000"/>
              </a:spcAft>
              <a:defRPr sz="2100" b="0">
                <a:solidFill>
                  <a:srgbClr val="E9EDF5"/>
                </a:solidFill>
                <a:latin typeface="Aptos"/>
              </a:defRPr>
            </a:pPr>
            <a:r>
              <a:t>• TP 275: churn berhasil terdeteksi.</a:t>
            </a:r>
          </a:p>
          <a:p>
            <a:pPr>
              <a:spcAft>
                <a:spcPts val="1000"/>
              </a:spcAft>
              <a:defRPr sz="2100" b="0">
                <a:solidFill>
                  <a:srgbClr val="E9EDF5"/>
                </a:solidFill>
                <a:latin typeface="Aptos"/>
              </a:defRPr>
            </a:pPr>
            <a:r>
              <a:t>• FN 99: churn terlewat.</a:t>
            </a:r>
          </a:p>
          <a:p>
            <a:pPr>
              <a:spcAft>
                <a:spcPts val="1000"/>
              </a:spcAft>
              <a:defRPr sz="2100" b="0">
                <a:solidFill>
                  <a:srgbClr val="E9EDF5"/>
                </a:solidFill>
                <a:latin typeface="Aptos"/>
              </a:defRPr>
            </a:pPr>
            <a:r>
              <a:t>• FP 243: pelanggan tidak churn ditandai churn.</a:t>
            </a:r>
          </a:p>
          <a:p>
            <a:pPr>
              <a:spcAft>
                <a:spcPts val="1000"/>
              </a:spcAft>
              <a:defRPr sz="2100" b="0">
                <a:solidFill>
                  <a:srgbClr val="E9EDF5"/>
                </a:solidFill>
                <a:latin typeface="Aptos"/>
              </a:defRPr>
            </a:pPr>
            <a:r>
              <a:t>• TN 790: tidak churn diprediksi benar.</a:t>
            </a:r>
          </a:p>
          <a:p>
            <a:pPr>
              <a:spcAft>
                <a:spcPts val="1000"/>
              </a:spcAft>
              <a:defRPr sz="2100" b="0">
                <a:solidFill>
                  <a:srgbClr val="E9EDF5"/>
                </a:solidFill>
                <a:latin typeface="Aptos"/>
              </a:defRPr>
            </a:pPr>
            <a:r>
              <a:t>• Precision 53,09%; recall 73,53%. Biaya retensi nyata belum diukur.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ROC &amp; kualitas probabilitas</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Kurva dihitung dari model tersimpan pada holdout test</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21</a:t>
            </a:r>
          </a:p>
        </p:txBody>
      </p:sp>
      <p:pic>
        <p:nvPicPr>
          <p:cNvPr id="6" name="Picture 5" descr="roc_calibration.png"/>
          <p:cNvPicPr>
            <a:picLocks noChangeAspect="1"/>
          </p:cNvPicPr>
          <p:nvPr/>
        </p:nvPicPr>
        <p:blipFill>
          <a:blip r:embed="rId3"/>
          <a:stretch>
            <a:fillRect/>
          </a:stretch>
        </p:blipFill>
        <p:spPr>
          <a:xfrm>
            <a:off x="1420238" y="1645920"/>
            <a:ext cx="9321043" cy="3840480"/>
          </a:xfrm>
          <a:prstGeom prst="rect">
            <a:avLst/>
          </a:prstGeom>
        </p:spPr>
      </p:pic>
      <p:sp>
        <p:nvSpPr>
          <p:cNvPr id="7" name="TextBox 6"/>
          <p:cNvSpPr txBox="1"/>
          <p:nvPr/>
        </p:nvSpPr>
        <p:spPr>
          <a:xfrm>
            <a:off x="594360" y="5577840"/>
            <a:ext cx="10972800" cy="731520"/>
          </a:xfrm>
          <a:prstGeom prst="rect">
            <a:avLst/>
          </a:prstGeom>
          <a:noFill/>
        </p:spPr>
        <p:txBody>
          <a:bodyPr wrap="square" lIns="18288" rIns="18288" tIns="0" bIns="0">
            <a:spAutoFit/>
          </a:bodyPr>
          <a:lstStyle/>
          <a:p>
            <a:pPr>
              <a:spcAft>
                <a:spcPts val="1000"/>
              </a:spcAft>
              <a:defRPr sz="1700" b="0">
                <a:solidFill>
                  <a:srgbClr val="AAB4C8"/>
                </a:solidFill>
                <a:latin typeface="Aptos"/>
              </a:defRPr>
            </a:pPr>
            <a:r>
              <a:t>AUC aplikasi 0,8324. Brier turun 0,1741 → 0,1414 setelah kalibrasi. Reliability curve memperlihatkan kedekatan prediksi dan frekuensi aktual; bukan jaminan tiap pelanggan.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Interpretasi fitur</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Koefisien model inti sebelum kalibrasi</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22</a:t>
            </a:r>
          </a:p>
        </p:txBody>
      </p:sp>
      <p:pic>
        <p:nvPicPr>
          <p:cNvPr id="6" name="Picture 5" descr="coefficients.png"/>
          <p:cNvPicPr>
            <a:picLocks noChangeAspect="1"/>
          </p:cNvPicPr>
          <p:nvPr/>
        </p:nvPicPr>
        <p:blipFill>
          <a:blip r:embed="rId3"/>
          <a:stretch>
            <a:fillRect/>
          </a:stretch>
        </p:blipFill>
        <p:spPr>
          <a:xfrm>
            <a:off x="548640" y="2039554"/>
            <a:ext cx="7315200" cy="3601851"/>
          </a:xfrm>
          <a:prstGeom prst="rect">
            <a:avLst/>
          </a:prstGeom>
        </p:spPr>
      </p:pic>
      <p:sp>
        <p:nvSpPr>
          <p:cNvPr id="7" name="TextBox 6"/>
          <p:cNvSpPr txBox="1"/>
          <p:nvPr/>
        </p:nvSpPr>
        <p:spPr>
          <a:xfrm>
            <a:off x="8229600" y="1828800"/>
            <a:ext cx="3383280" cy="4206240"/>
          </a:xfrm>
          <a:prstGeom prst="rect">
            <a:avLst/>
          </a:prstGeom>
          <a:noFill/>
        </p:spPr>
        <p:txBody>
          <a:bodyPr wrap="square" lIns="18288" rIns="18288" tIns="0" bIns="0">
            <a:spAutoFit/>
          </a:bodyPr>
          <a:lstStyle/>
          <a:p>
            <a:pPr>
              <a:spcAft>
                <a:spcPts val="1000"/>
              </a:spcAft>
              <a:defRPr sz="1700" b="0">
                <a:solidFill>
                  <a:srgbClr val="E9EDF5"/>
                </a:solidFill>
                <a:latin typeface="Aptos"/>
              </a:defRPr>
            </a:pPr>
            <a:r>
              <a:t>• Tenure negatif: hubungan bersyarat dengan log-odds churn.</a:t>
            </a:r>
          </a:p>
          <a:p>
            <a:pPr>
              <a:spcAft>
                <a:spcPts val="1000"/>
              </a:spcAft>
              <a:defRPr sz="1700" b="0">
                <a:solidFill>
                  <a:srgbClr val="E9EDF5"/>
                </a:solidFill>
                <a:latin typeface="Aptos"/>
              </a:defRPr>
            </a:pPr>
            <a:r>
              <a:t>• Kontrak bulanan dan fiber punya bobot positif pada model inti.</a:t>
            </a:r>
          </a:p>
          <a:p>
            <a:pPr>
              <a:spcAft>
                <a:spcPts val="1000"/>
              </a:spcAft>
              <a:defRPr sz="1700" b="0">
                <a:solidFill>
                  <a:srgbClr val="E9EDF5"/>
                </a:solidFill>
                <a:latin typeface="Aptos"/>
              </a:defRPr>
            </a:pPr>
            <a:r>
              <a:t>• Koefisien MonthlyCharges negatif tidak otomatis salah.</a:t>
            </a:r>
          </a:p>
          <a:p>
            <a:pPr>
              <a:spcAft>
                <a:spcPts val="1000"/>
              </a:spcAft>
              <a:defRPr sz="1700" b="0">
                <a:solidFill>
                  <a:srgbClr val="E9EDF5"/>
                </a:solidFill>
                <a:latin typeface="Aptos"/>
              </a:defRPr>
            </a:pPr>
            <a:r>
              <a:t>• Fitur saling berhubungan; bobot bukan bukti kausal atau peringkat universal.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Arsitektur &amp; implementasi aplikasi</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Python • scikit-learn • pandas • joblib • Streamlit</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23</a:t>
            </a:r>
          </a:p>
        </p:txBody>
      </p:sp>
      <p:sp>
        <p:nvSpPr>
          <p:cNvPr id="6" name="Rounded Rectangle 5"/>
          <p:cNvSpPr/>
          <p:nvPr/>
        </p:nvSpPr>
        <p:spPr>
          <a:xfrm>
            <a:off x="594360" y="1828800"/>
            <a:ext cx="2560320" cy="2468880"/>
          </a:xfrm>
          <a:prstGeom prst="roundRect">
            <a:avLst/>
          </a:prstGeom>
          <a:solidFill>
            <a:srgbClr val="141B2E"/>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057400"/>
            <a:ext cx="2286000" cy="365760"/>
          </a:xfrm>
          <a:prstGeom prst="rect">
            <a:avLst/>
          </a:prstGeom>
          <a:noFill/>
        </p:spPr>
        <p:txBody>
          <a:bodyPr wrap="square" lIns="18288" rIns="18288" tIns="0" bIns="0">
            <a:spAutoFit/>
          </a:bodyPr>
          <a:lstStyle/>
          <a:p>
            <a:pPr>
              <a:spcAft>
                <a:spcPts val="1000"/>
              </a:spcAft>
              <a:defRPr sz="2100" b="1">
                <a:solidFill>
                  <a:srgbClr val="A78BFA"/>
                </a:solidFill>
                <a:latin typeface="Aptos"/>
              </a:defRPr>
            </a:pPr>
            <a:r>
              <a:t>INPUT</a:t>
            </a:r>
          </a:p>
        </p:txBody>
      </p:sp>
      <p:sp>
        <p:nvSpPr>
          <p:cNvPr id="8" name="TextBox 7"/>
          <p:cNvSpPr txBox="1"/>
          <p:nvPr/>
        </p:nvSpPr>
        <p:spPr>
          <a:xfrm>
            <a:off x="731520" y="2743200"/>
            <a:ext cx="2286000" cy="1371600"/>
          </a:xfrm>
          <a:prstGeom prst="rect">
            <a:avLst/>
          </a:prstGeom>
          <a:noFill/>
        </p:spPr>
        <p:txBody>
          <a:bodyPr wrap="square" lIns="18288" rIns="18288" tIns="0" bIns="0">
            <a:spAutoFit/>
          </a:bodyPr>
          <a:lstStyle/>
          <a:p>
            <a:pPr>
              <a:spcAft>
                <a:spcPts val="1000"/>
              </a:spcAft>
              <a:defRPr sz="2000" b="0">
                <a:solidFill>
                  <a:srgbClr val="E9EDF5"/>
                </a:solidFill>
                <a:latin typeface="Aptos"/>
              </a:defRPr>
            </a:pPr>
            <a:r>
              <a:t>Form 18 fitur</a:t>
            </a:r>
          </a:p>
          <a:p>
            <a:pPr>
              <a:spcAft>
                <a:spcPts val="1000"/>
              </a:spcAft>
              <a:defRPr sz="2000" b="0">
                <a:solidFill>
                  <a:srgbClr val="E9EDF5"/>
                </a:solidFill>
                <a:latin typeface="Aptos"/>
              </a:defRPr>
            </a:pPr>
            <a:r>
              <a:t>CSV UTF-8</a:t>
            </a:r>
          </a:p>
          <a:p>
            <a:pPr>
              <a:spcAft>
                <a:spcPts val="1000"/>
              </a:spcAft>
              <a:defRPr sz="2000" b="0">
                <a:solidFill>
                  <a:srgbClr val="E9EDF5"/>
                </a:solidFill>
                <a:latin typeface="Aptos"/>
              </a:defRPr>
            </a:pPr>
            <a:r>
              <a:t>Template unduhan</a:t>
            </a:r>
          </a:p>
        </p:txBody>
      </p:sp>
      <p:sp>
        <p:nvSpPr>
          <p:cNvPr id="9" name="Rounded Rectangle 8"/>
          <p:cNvSpPr/>
          <p:nvPr/>
        </p:nvSpPr>
        <p:spPr>
          <a:xfrm>
            <a:off x="3474720" y="1828800"/>
            <a:ext cx="2560320" cy="2468880"/>
          </a:xfrm>
          <a:prstGeom prst="roundRect">
            <a:avLst/>
          </a:prstGeom>
          <a:solidFill>
            <a:srgbClr val="141B2E"/>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79" y="2057400"/>
            <a:ext cx="2286000" cy="365760"/>
          </a:xfrm>
          <a:prstGeom prst="rect">
            <a:avLst/>
          </a:prstGeom>
          <a:noFill/>
        </p:spPr>
        <p:txBody>
          <a:bodyPr wrap="square" lIns="18288" rIns="18288" tIns="0" bIns="0">
            <a:spAutoFit/>
          </a:bodyPr>
          <a:lstStyle/>
          <a:p>
            <a:pPr>
              <a:spcAft>
                <a:spcPts val="1000"/>
              </a:spcAft>
              <a:defRPr sz="2100" b="1">
                <a:solidFill>
                  <a:srgbClr val="A78BFA"/>
                </a:solidFill>
                <a:latin typeface="Aptos"/>
              </a:defRPr>
            </a:pPr>
            <a:r>
              <a:t>VALIDASI</a:t>
            </a:r>
          </a:p>
        </p:txBody>
      </p:sp>
      <p:sp>
        <p:nvSpPr>
          <p:cNvPr id="11" name="TextBox 10"/>
          <p:cNvSpPr txBox="1"/>
          <p:nvPr/>
        </p:nvSpPr>
        <p:spPr>
          <a:xfrm>
            <a:off x="3611879" y="2743200"/>
            <a:ext cx="2286000" cy="1371600"/>
          </a:xfrm>
          <a:prstGeom prst="rect">
            <a:avLst/>
          </a:prstGeom>
          <a:noFill/>
        </p:spPr>
        <p:txBody>
          <a:bodyPr wrap="square" lIns="18288" rIns="18288" tIns="0" bIns="0">
            <a:spAutoFit/>
          </a:bodyPr>
          <a:lstStyle/>
          <a:p>
            <a:pPr>
              <a:spcAft>
                <a:spcPts val="1000"/>
              </a:spcAft>
              <a:defRPr sz="2000" b="0">
                <a:solidFill>
                  <a:srgbClr val="E9EDF5"/>
                </a:solidFill>
                <a:latin typeface="Aptos"/>
              </a:defRPr>
            </a:pPr>
            <a:r>
              <a:t>Kolom &amp; kategori</a:t>
            </a:r>
          </a:p>
          <a:p>
            <a:pPr>
              <a:spcAft>
                <a:spcPts val="1000"/>
              </a:spcAft>
              <a:defRPr sz="2000" b="0">
                <a:solidFill>
                  <a:srgbClr val="E9EDF5"/>
                </a:solidFill>
                <a:latin typeface="Aptos"/>
              </a:defRPr>
            </a:pPr>
            <a:r>
              <a:t>Angka &amp; rentang</a:t>
            </a:r>
          </a:p>
          <a:p>
            <a:pPr>
              <a:spcAft>
                <a:spcPts val="1000"/>
              </a:spcAft>
              <a:defRPr sz="2000" b="0">
                <a:solidFill>
                  <a:srgbClr val="E9EDF5"/>
                </a:solidFill>
                <a:latin typeface="Aptos"/>
              </a:defRPr>
            </a:pPr>
            <a:r>
              <a:t>Konsistensi layanan</a:t>
            </a:r>
          </a:p>
        </p:txBody>
      </p:sp>
      <p:sp>
        <p:nvSpPr>
          <p:cNvPr id="12" name="Rounded Rectangle 11"/>
          <p:cNvSpPr/>
          <p:nvPr/>
        </p:nvSpPr>
        <p:spPr>
          <a:xfrm>
            <a:off x="6355080" y="1828800"/>
            <a:ext cx="2560320" cy="2468880"/>
          </a:xfrm>
          <a:prstGeom prst="roundRect">
            <a:avLst/>
          </a:prstGeom>
          <a:solidFill>
            <a:srgbClr val="141B2E"/>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57400"/>
            <a:ext cx="2286000" cy="365760"/>
          </a:xfrm>
          <a:prstGeom prst="rect">
            <a:avLst/>
          </a:prstGeom>
          <a:noFill/>
        </p:spPr>
        <p:txBody>
          <a:bodyPr wrap="square" lIns="18288" rIns="18288" tIns="0" bIns="0">
            <a:spAutoFit/>
          </a:bodyPr>
          <a:lstStyle/>
          <a:p>
            <a:pPr>
              <a:spcAft>
                <a:spcPts val="1000"/>
              </a:spcAft>
              <a:defRPr sz="2100" b="1">
                <a:solidFill>
                  <a:srgbClr val="A78BFA"/>
                </a:solidFill>
                <a:latin typeface="Aptos"/>
              </a:defRPr>
            </a:pPr>
            <a:r>
              <a:t>MODEL</a:t>
            </a:r>
          </a:p>
        </p:txBody>
      </p:sp>
      <p:sp>
        <p:nvSpPr>
          <p:cNvPr id="14" name="TextBox 13"/>
          <p:cNvSpPr txBox="1"/>
          <p:nvPr/>
        </p:nvSpPr>
        <p:spPr>
          <a:xfrm>
            <a:off x="6492240" y="2743200"/>
            <a:ext cx="2286000" cy="1371600"/>
          </a:xfrm>
          <a:prstGeom prst="rect">
            <a:avLst/>
          </a:prstGeom>
          <a:noFill/>
        </p:spPr>
        <p:txBody>
          <a:bodyPr wrap="square" lIns="18288" rIns="18288" tIns="0" bIns="0">
            <a:spAutoFit/>
          </a:bodyPr>
          <a:lstStyle/>
          <a:p>
            <a:pPr>
              <a:spcAft>
                <a:spcPts val="1000"/>
              </a:spcAft>
              <a:defRPr sz="2000" b="0">
                <a:solidFill>
                  <a:srgbClr val="E9EDF5"/>
                </a:solidFill>
                <a:latin typeface="Aptos"/>
              </a:defRPr>
            </a:pPr>
            <a:r>
              <a:t>Pipeline preprocess</a:t>
            </a:r>
          </a:p>
          <a:p>
            <a:pPr>
              <a:spcAft>
                <a:spcPts val="1000"/>
              </a:spcAft>
              <a:defRPr sz="2000" b="0">
                <a:solidFill>
                  <a:srgbClr val="E9EDF5"/>
                </a:solidFill>
                <a:latin typeface="Aptos"/>
              </a:defRPr>
            </a:pPr>
            <a:r>
              <a:t>Sigmoid calibrated</a:t>
            </a:r>
          </a:p>
          <a:p>
            <a:pPr>
              <a:spcAft>
                <a:spcPts val="1000"/>
              </a:spcAft>
              <a:defRPr sz="2000" b="0">
                <a:solidFill>
                  <a:srgbClr val="E9EDF5"/>
                </a:solidFill>
                <a:latin typeface="Aptos"/>
              </a:defRPr>
            </a:pPr>
            <a:r>
              <a:t>Probabilitas churn</a:t>
            </a:r>
          </a:p>
        </p:txBody>
      </p:sp>
      <p:sp>
        <p:nvSpPr>
          <p:cNvPr id="15" name="Rounded Rectangle 14"/>
          <p:cNvSpPr/>
          <p:nvPr/>
        </p:nvSpPr>
        <p:spPr>
          <a:xfrm>
            <a:off x="9235440" y="1828800"/>
            <a:ext cx="2560320" cy="2468880"/>
          </a:xfrm>
          <a:prstGeom prst="roundRect">
            <a:avLst/>
          </a:prstGeom>
          <a:solidFill>
            <a:srgbClr val="141B2E"/>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72600" y="2057400"/>
            <a:ext cx="2286000" cy="365760"/>
          </a:xfrm>
          <a:prstGeom prst="rect">
            <a:avLst/>
          </a:prstGeom>
          <a:noFill/>
        </p:spPr>
        <p:txBody>
          <a:bodyPr wrap="square" lIns="18288" rIns="18288" tIns="0" bIns="0">
            <a:spAutoFit/>
          </a:bodyPr>
          <a:lstStyle/>
          <a:p>
            <a:pPr>
              <a:spcAft>
                <a:spcPts val="1000"/>
              </a:spcAft>
              <a:defRPr sz="2100" b="1">
                <a:solidFill>
                  <a:srgbClr val="A78BFA"/>
                </a:solidFill>
                <a:latin typeface="Aptos"/>
              </a:defRPr>
            </a:pPr>
            <a:r>
              <a:t>OUTPUT</a:t>
            </a:r>
          </a:p>
        </p:txBody>
      </p:sp>
      <p:sp>
        <p:nvSpPr>
          <p:cNvPr id="17" name="TextBox 16"/>
          <p:cNvSpPr txBox="1"/>
          <p:nvPr/>
        </p:nvSpPr>
        <p:spPr>
          <a:xfrm>
            <a:off x="9372600" y="2743200"/>
            <a:ext cx="2286000" cy="1371600"/>
          </a:xfrm>
          <a:prstGeom prst="rect">
            <a:avLst/>
          </a:prstGeom>
          <a:noFill/>
        </p:spPr>
        <p:txBody>
          <a:bodyPr wrap="square" lIns="18288" rIns="18288" tIns="0" bIns="0">
            <a:spAutoFit/>
          </a:bodyPr>
          <a:lstStyle/>
          <a:p>
            <a:pPr>
              <a:spcAft>
                <a:spcPts val="1000"/>
              </a:spcAft>
              <a:defRPr sz="2000" b="0">
                <a:solidFill>
                  <a:srgbClr val="E9EDF5"/>
                </a:solidFill>
                <a:latin typeface="Aptos"/>
              </a:defRPr>
            </a:pPr>
            <a:r>
              <a:t>Threshold 0,32</a:t>
            </a:r>
          </a:p>
          <a:p>
            <a:pPr>
              <a:spcAft>
                <a:spcPts val="1000"/>
              </a:spcAft>
              <a:defRPr sz="2000" b="0">
                <a:solidFill>
                  <a:srgbClr val="E9EDF5"/>
                </a:solidFill>
                <a:latin typeface="Aptos"/>
              </a:defRPr>
            </a:pPr>
            <a:r>
              <a:t>CHURN/TETAP</a:t>
            </a:r>
          </a:p>
          <a:p>
            <a:pPr>
              <a:spcAft>
                <a:spcPts val="1000"/>
              </a:spcAft>
              <a:defRPr sz="2000" b="0">
                <a:solidFill>
                  <a:srgbClr val="E9EDF5"/>
                </a:solidFill>
                <a:latin typeface="Aptos"/>
              </a:defRPr>
            </a:pPr>
            <a:r>
              <a:t>Risiko + CSV hasil</a:t>
            </a:r>
          </a:p>
        </p:txBody>
      </p:sp>
      <p:sp>
        <p:nvSpPr>
          <p:cNvPr id="18" name="TextBox 17"/>
          <p:cNvSpPr txBox="1"/>
          <p:nvPr/>
        </p:nvSpPr>
        <p:spPr>
          <a:xfrm>
            <a:off x="594360" y="5029200"/>
            <a:ext cx="10972800" cy="1005840"/>
          </a:xfrm>
          <a:prstGeom prst="rect">
            <a:avLst/>
          </a:prstGeom>
          <a:noFill/>
        </p:spPr>
        <p:txBody>
          <a:bodyPr wrap="square" lIns="18288" rIns="18288" tIns="0" bIns="0">
            <a:spAutoFit/>
          </a:bodyPr>
          <a:lstStyle/>
          <a:p>
            <a:pPr>
              <a:spcAft>
                <a:spcPts val="1000"/>
              </a:spcAft>
              <a:defRPr sz="2000" b="0">
                <a:solidFill>
                  <a:srgbClr val="E9EDF5"/>
                </a:solidFill>
                <a:latin typeface="Aptos"/>
              </a:defRPr>
            </a:pPr>
            <a:r>
              <a:t>Artefak dan metadata diperiksa SHA-256. Hasil lama disembunyikan saat input berubah. CSV invalid ditolak dengan pesan dan nomor baris; tidak dibuang diam-diam.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Demo aplikasi — jalankan langsung</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Buka URL live; tunjukkan interaksi, bukan hanya screenshot</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24</a:t>
            </a:r>
          </a:p>
        </p:txBody>
      </p:sp>
      <p:sp>
        <p:nvSpPr>
          <p:cNvPr id="6" name="TextBox 5"/>
          <p:cNvSpPr txBox="1"/>
          <p:nvPr/>
        </p:nvSpPr>
        <p:spPr>
          <a:xfrm>
            <a:off x="594360" y="1691640"/>
            <a:ext cx="10972800" cy="4389120"/>
          </a:xfrm>
          <a:prstGeom prst="rect">
            <a:avLst/>
          </a:prstGeom>
          <a:noFill/>
        </p:spPr>
        <p:txBody>
          <a:bodyPr wrap="square" lIns="18288" rIns="18288" tIns="0" bIns="0">
            <a:spAutoFit/>
          </a:bodyPr>
          <a:lstStyle/>
          <a:p>
            <a:pPr>
              <a:spcAft>
                <a:spcPts val="1000"/>
              </a:spcAft>
              <a:defRPr sz="2100" b="0">
                <a:solidFill>
                  <a:srgbClr val="E9EDF5"/>
                </a:solidFill>
                <a:latin typeface="Aptos"/>
              </a:defRPr>
            </a:pPr>
            <a:r>
              <a:t>• 1. Buka aplikasi: KPI dan tab single, batch, dashboard, serta EDA.</a:t>
            </a:r>
          </a:p>
          <a:p>
            <a:pPr>
              <a:spcAft>
                <a:spcPts val="1000"/>
              </a:spcAft>
              <a:defRPr sz="2100" b="0">
                <a:solidFill>
                  <a:srgbClr val="E9EDF5"/>
                </a:solidFill>
                <a:latin typeface="Aptos"/>
              </a:defRPr>
            </a:pPr>
            <a:r>
              <a:t>• 2. Isi profil pelanggan; klik Prediksi Sekarang dan jelaskan probabilitas/threshold.</a:t>
            </a:r>
          </a:p>
          <a:p>
            <a:pPr>
              <a:spcAft>
                <a:spcPts val="1000"/>
              </a:spcAft>
              <a:defRPr sz="2100" b="0">
                <a:solidFill>
                  <a:srgbClr val="E9EDF5"/>
                </a:solidFill>
                <a:latin typeface="Aptos"/>
              </a:defRPr>
            </a:pPr>
            <a:r>
              <a:t>• 3. Download template → upload CSV → tampilkan ringkasan → download hasil.</a:t>
            </a:r>
          </a:p>
          <a:p>
            <a:pPr>
              <a:spcAft>
                <a:spcPts val="1000"/>
              </a:spcAft>
              <a:defRPr sz="2100" b="0">
                <a:solidFill>
                  <a:srgbClr val="E9EDF5"/>
                </a:solidFill>
                <a:latin typeface="Aptos"/>
              </a:defRPr>
            </a:pPr>
            <a:r>
              <a:t>• 4. Tunjukkan validasi: CSV tanpa tenure atau kategori Contract yang salah.</a:t>
            </a:r>
          </a:p>
          <a:p>
            <a:pPr>
              <a:spcAft>
                <a:spcPts val="1000"/>
              </a:spcAft>
              <a:defRPr sz="2100" b="0">
                <a:solidFill>
                  <a:srgbClr val="E9EDF5"/>
                </a:solidFill>
                <a:latin typeface="Aptos"/>
              </a:defRPr>
            </a:pPr>
            <a:r>
              <a:t>• 5. Buka dashboard: perbandingan model inti dan evaluasi model aplikasi.</a:t>
            </a:r>
          </a:p>
        </p:txBody>
      </p:sp>
      <p:sp>
        <p:nvSpPr>
          <p:cNvPr id="7" name="TextBox 6"/>
          <p:cNvSpPr txBox="1"/>
          <p:nvPr/>
        </p:nvSpPr>
        <p:spPr>
          <a:xfrm>
            <a:off x="594360" y="5806440"/>
            <a:ext cx="10972800" cy="365760"/>
          </a:xfrm>
          <a:prstGeom prst="rect">
            <a:avLst/>
          </a:prstGeom>
          <a:noFill/>
        </p:spPr>
        <p:txBody>
          <a:bodyPr wrap="square" lIns="18288" rIns="18288" tIns="0" bIns="0">
            <a:spAutoFit/>
          </a:bodyPr>
          <a:lstStyle/>
          <a:p>
            <a:pPr>
              <a:spcAft>
                <a:spcPts val="1000"/>
              </a:spcAft>
              <a:defRPr sz="1300" b="0">
                <a:solidFill>
                  <a:srgbClr val="60A5FA"/>
                </a:solidFill>
                <a:latin typeface="Aptos"/>
              </a:defRPr>
            </a:pPr>
            <a:r>
              <a:t>https://machine-learning-project-u8yovshrqrc5tm5s2y2qto.streamlit.app/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Kesimpulan</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Model terukur, aplikasi berjalan, hasil bisa direproduksi</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25</a:t>
            </a:r>
          </a:p>
        </p:txBody>
      </p:sp>
      <p:sp>
        <p:nvSpPr>
          <p:cNvPr id="6" name="TextBox 5"/>
          <p:cNvSpPr txBox="1"/>
          <p:nvPr/>
        </p:nvSpPr>
        <p:spPr>
          <a:xfrm>
            <a:off x="594360" y="1691640"/>
            <a:ext cx="10972800" cy="4389120"/>
          </a:xfrm>
          <a:prstGeom prst="rect">
            <a:avLst/>
          </a:prstGeom>
          <a:noFill/>
        </p:spPr>
        <p:txBody>
          <a:bodyPr wrap="square" lIns="18288" rIns="18288" tIns="0" bIns="0">
            <a:spAutoFit/>
          </a:bodyPr>
          <a:lstStyle/>
          <a:p>
            <a:pPr>
              <a:spcAft>
                <a:spcPts val="1000"/>
              </a:spcAft>
              <a:defRPr sz="2200" b="0">
                <a:solidFill>
                  <a:srgbClr val="E9EDF5"/>
                </a:solidFill>
                <a:latin typeface="Aptos"/>
              </a:defRPr>
            </a:pPr>
            <a:r>
              <a:t>• LR dipilih berdasarkan CV-F1 training tertinggi (0,6304).</a:t>
            </a:r>
          </a:p>
          <a:p>
            <a:pPr>
              <a:spcAft>
                <a:spcPts val="1000"/>
              </a:spcAft>
              <a:defRPr sz="2200" b="0">
                <a:solidFill>
                  <a:srgbClr val="E9EDF5"/>
                </a:solidFill>
                <a:latin typeface="Aptos"/>
              </a:defRPr>
            </a:pPr>
            <a:r>
              <a:t>• Konfigurasi aplikasi: sigmoid calibration + threshold 0,32 train-only.</a:t>
            </a:r>
          </a:p>
          <a:p>
            <a:pPr>
              <a:spcAft>
                <a:spcPts val="1000"/>
              </a:spcAft>
              <a:defRPr sz="2200" b="0">
                <a:solidFill>
                  <a:srgbClr val="E9EDF5"/>
                </a:solidFill>
                <a:latin typeface="Aptos"/>
              </a:defRPr>
            </a:pPr>
            <a:r>
              <a:t>• Test aplikasi: accuracy 75,69%; precision 53,09%; recall 73,53%; F1 0,6166.</a:t>
            </a:r>
          </a:p>
          <a:p>
            <a:pPr>
              <a:spcAft>
                <a:spcPts val="1000"/>
              </a:spcAft>
              <a:defRPr sz="2200" b="0">
                <a:solidFill>
                  <a:srgbClr val="E9EDF5"/>
                </a:solidFill>
                <a:latin typeface="Aptos"/>
              </a:defRPr>
            </a:pPr>
            <a:r>
              <a:t>• 275 dari 374 churn terdeteksi; 99 terlewat dan 243 false alarm.</a:t>
            </a:r>
          </a:p>
          <a:p>
            <a:pPr>
              <a:spcAft>
                <a:spcPts val="1000"/>
              </a:spcAft>
              <a:defRPr sz="2200" b="0">
                <a:solidFill>
                  <a:srgbClr val="E9EDF5"/>
                </a:solidFill>
                <a:latin typeface="Aptos"/>
              </a:defRPr>
            </a:pPr>
            <a:r>
              <a:t>• Nilai tambah: probabilitas konsisten, validasi input, batch CSV, dan dashboard evaluasi.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Keterbatasan &amp; pengembangan</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Kesimpulan disesuaikan dengan bukti yang tersedia</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26</a:t>
            </a:r>
          </a:p>
        </p:txBody>
      </p:sp>
      <p:graphicFrame>
        <p:nvGraphicFramePr>
          <p:cNvPr id="6" name="Table 5"/>
          <p:cNvGraphicFramePr>
            <a:graphicFrameLocks noGrp="1"/>
          </p:cNvGraphicFramePr>
          <p:nvPr/>
        </p:nvGraphicFramePr>
        <p:xfrm>
          <a:off x="548640" y="1691640"/>
          <a:ext cx="11064240" cy="3840480"/>
        </p:xfrm>
        <a:graphic>
          <a:graphicData uri="http://schemas.openxmlformats.org/drawingml/2006/table">
            <a:tbl>
              <a:tblPr firstRow="1" bandRow="1">
                <a:tableStyleId>{5C22544A-7EE6-4342-B048-85BDC9FD1C3A}</a:tableStyleId>
              </a:tblPr>
              <a:tblGrid>
                <a:gridCol w="5532120"/>
                <a:gridCol w="5532120"/>
              </a:tblGrid>
              <a:tr h="768096">
                <a:tc>
                  <a:txBody>
                    <a:bodyPr/>
                    <a:lstStyle/>
                    <a:p>
                      <a:pPr>
                        <a:defRPr sz="1900" b="1">
                          <a:solidFill>
                            <a:srgbClr val="E9EDF5"/>
                          </a:solidFill>
                          <a:latin typeface="Aptos"/>
                        </a:defRPr>
                      </a:pPr>
                      <a:r>
                        <a:t>Keterbatasan</a:t>
                      </a:r>
                    </a:p>
                  </a:txBody>
                  <a:tcPr marL="91440" marR="91440">
                    <a:solidFill>
                      <a:srgbClr val="7C3AED"/>
                    </a:solidFill>
                  </a:tcPr>
                </a:tc>
                <a:tc>
                  <a:txBody>
                    <a:bodyPr/>
                    <a:lstStyle/>
                    <a:p>
                      <a:pPr>
                        <a:defRPr sz="1900" b="1">
                          <a:solidFill>
                            <a:srgbClr val="E9EDF5"/>
                          </a:solidFill>
                          <a:latin typeface="Aptos"/>
                        </a:defRPr>
                      </a:pPr>
                      <a:r>
                        <a:t>Pengembangan</a:t>
                      </a:r>
                    </a:p>
                  </a:txBody>
                  <a:tcPr marL="91440" marR="91440">
                    <a:solidFill>
                      <a:srgbClr val="7C3AED"/>
                    </a:solidFill>
                  </a:tcPr>
                </a:tc>
              </a:tr>
              <a:tr h="768096">
                <a:tc>
                  <a:txBody>
                    <a:bodyPr/>
                    <a:lstStyle/>
                    <a:p>
                      <a:pPr>
                        <a:defRPr sz="1900" b="0">
                          <a:solidFill>
                            <a:srgbClr val="E9EDF5"/>
                          </a:solidFill>
                          <a:latin typeface="Aptos"/>
                        </a:defRPr>
                      </a:pPr>
                      <a:r>
                        <a:t>Dataset historis tunggal; pelanggan tenure 0 dieksklusi</a:t>
                      </a:r>
                    </a:p>
                  </a:txBody>
                  <a:tcPr marL="91440" marR="91440">
                    <a:solidFill>
                      <a:srgbClr val="141B2E"/>
                    </a:solidFill>
                  </a:tcPr>
                </a:tc>
                <a:tc>
                  <a:txBody>
                    <a:bodyPr/>
                    <a:lstStyle/>
                    <a:p>
                      <a:pPr>
                        <a:defRPr sz="1900" b="0">
                          <a:solidFill>
                            <a:srgbClr val="E9EDF5"/>
                          </a:solidFill>
                          <a:latin typeface="Aptos"/>
                        </a:defRPr>
                      </a:pPr>
                      <a:r>
                        <a:t>Validasi eksternal/temporal dan uji cohort pelanggan baru</a:t>
                      </a:r>
                    </a:p>
                  </a:txBody>
                  <a:tcPr marL="91440" marR="91440">
                    <a:solidFill>
                      <a:srgbClr val="141B2E"/>
                    </a:solidFill>
                  </a:tcPr>
                </a:tc>
              </a:tr>
              <a:tr h="768096">
                <a:tc>
                  <a:txBody>
                    <a:bodyPr/>
                    <a:lstStyle/>
                    <a:p>
                      <a:pPr>
                        <a:defRPr sz="1900" b="0">
                          <a:solidFill>
                            <a:srgbClr val="E9EDF5"/>
                          </a:solidFill>
                          <a:latin typeface="Aptos"/>
                        </a:defRPr>
                      </a:pPr>
                      <a:r>
                        <a:t>Profil identik lintas split; fitur TotalCharges dibuang tanpa ablation</a:t>
                      </a:r>
                    </a:p>
                  </a:txBody>
                  <a:tcPr marL="91440" marR="91440">
                    <a:solidFill>
                      <a:srgbClr val="141B2E"/>
                    </a:solidFill>
                  </a:tcPr>
                </a:tc>
                <a:tc>
                  <a:txBody>
                    <a:bodyPr/>
                    <a:lstStyle/>
                    <a:p>
                      <a:pPr>
                        <a:defRPr sz="1900" b="0">
                          <a:solidFill>
                            <a:srgbClr val="E9EDF5"/>
                          </a:solidFill>
                          <a:latin typeface="Aptos"/>
                        </a:defRPr>
                      </a:pPr>
                      <a:r>
                        <a:t>Group-aware split; ablation fitur; laporkan perubahan performa</a:t>
                      </a:r>
                    </a:p>
                  </a:txBody>
                  <a:tcPr marL="91440" marR="91440">
                    <a:solidFill>
                      <a:srgbClr val="141B2E"/>
                    </a:solidFill>
                  </a:tcPr>
                </a:tc>
              </a:tr>
              <a:tr h="768096">
                <a:tc>
                  <a:txBody>
                    <a:bodyPr/>
                    <a:lstStyle/>
                    <a:p>
                      <a:pPr>
                        <a:defRPr sz="1900" b="0">
                          <a:solidFill>
                            <a:srgbClr val="E9EDF5"/>
                          </a:solidFill>
                          <a:latin typeface="Aptos"/>
                        </a:defRPr>
                      </a:pPr>
                      <a:r>
                        <a:t>RF overfit; FP/FN masih cukup besar</a:t>
                      </a:r>
                    </a:p>
                  </a:txBody>
                  <a:tcPr marL="91440" marR="91440">
                    <a:solidFill>
                      <a:srgbClr val="141B2E"/>
                    </a:solidFill>
                  </a:tcPr>
                </a:tc>
                <a:tc>
                  <a:txBody>
                    <a:bodyPr/>
                    <a:lstStyle/>
                    <a:p>
                      <a:pPr>
                        <a:defRPr sz="1900" b="0">
                          <a:solidFill>
                            <a:srgbClr val="E9EDF5"/>
                          </a:solidFill>
                          <a:latin typeface="Aptos"/>
                        </a:defRPr>
                      </a:pPr>
                      <a:r>
                        <a:t>Regularisasi/tuning; alternatif boosting; threshold berbasis biaya nyata</a:t>
                      </a:r>
                    </a:p>
                  </a:txBody>
                  <a:tcPr marL="91440" marR="91440">
                    <a:solidFill>
                      <a:srgbClr val="141B2E"/>
                    </a:solidFill>
                  </a:tcPr>
                </a:tc>
              </a:tr>
              <a:tr h="768096">
                <a:tc>
                  <a:txBody>
                    <a:bodyPr/>
                    <a:lstStyle/>
                    <a:p>
                      <a:pPr>
                        <a:defRPr sz="1900" b="0">
                          <a:solidFill>
                            <a:srgbClr val="E9EDF5"/>
                          </a:solidFill>
                          <a:latin typeface="Aptos"/>
                        </a:defRPr>
                      </a:pPr>
                      <a:r>
                        <a:t>Retensi berbasis aturan; belum diuji efektivitasnya</a:t>
                      </a:r>
                    </a:p>
                  </a:txBody>
                  <a:tcPr marL="91440" marR="91440">
                    <a:solidFill>
                      <a:srgbClr val="141B2E"/>
                    </a:solidFill>
                  </a:tcPr>
                </a:tc>
                <a:tc>
                  <a:txBody>
                    <a:bodyPr/>
                    <a:lstStyle/>
                    <a:p>
                      <a:pPr>
                        <a:defRPr sz="1900" b="0">
                          <a:solidFill>
                            <a:srgbClr val="E9EDF5"/>
                          </a:solidFill>
                          <a:latin typeface="Aptos"/>
                        </a:defRPr>
                      </a:pPr>
                      <a:r>
                        <a:t>SHAP dan eksperimen tindakan retensi; monitoring drift</a:t>
                      </a:r>
                    </a:p>
                  </a:txBody>
                  <a:tcPr marL="91440" marR="91440">
                    <a:solidFill>
                      <a:srgbClr val="141B2E"/>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Pembagian tugas</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Diisi oleh anggota sesuai pengerjaan aktual — tanpa asumsi peran</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27</a:t>
            </a:r>
          </a:p>
        </p:txBody>
      </p:sp>
      <p:graphicFrame>
        <p:nvGraphicFramePr>
          <p:cNvPr id="6" name="Table 5"/>
          <p:cNvGraphicFramePr>
            <a:graphicFrameLocks noGrp="1"/>
          </p:cNvGraphicFramePr>
          <p:nvPr/>
        </p:nvGraphicFramePr>
        <p:xfrm>
          <a:off x="548640" y="1691640"/>
          <a:ext cx="11064239" cy="3017520"/>
        </p:xfrm>
        <a:graphic>
          <a:graphicData uri="http://schemas.openxmlformats.org/drawingml/2006/table">
            <a:tbl>
              <a:tblPr firstRow="1" bandRow="1">
                <a:tableStyleId>{5C22544A-7EE6-4342-B048-85BDC9FD1C3A}</a:tableStyleId>
              </a:tblPr>
              <a:tblGrid>
                <a:gridCol w="4757623"/>
                <a:gridCol w="2766060"/>
                <a:gridCol w="3540556"/>
              </a:tblGrid>
              <a:tr h="754380">
                <a:tc>
                  <a:txBody>
                    <a:bodyPr/>
                    <a:lstStyle/>
                    <a:p>
                      <a:pPr>
                        <a:defRPr sz="2000" b="1">
                          <a:solidFill>
                            <a:srgbClr val="E9EDF5"/>
                          </a:solidFill>
                          <a:latin typeface="Aptos"/>
                        </a:defRPr>
                      </a:pPr>
                      <a:r>
                        <a:t>Anggota</a:t>
                      </a:r>
                    </a:p>
                  </a:txBody>
                  <a:tcPr marL="91440" marR="91440">
                    <a:solidFill>
                      <a:srgbClr val="7C3AED"/>
                    </a:solidFill>
                  </a:tcPr>
                </a:tc>
                <a:tc>
                  <a:txBody>
                    <a:bodyPr/>
                    <a:lstStyle/>
                    <a:p>
                      <a:pPr>
                        <a:defRPr sz="2000" b="1">
                          <a:solidFill>
                            <a:srgbClr val="E9EDF5"/>
                          </a:solidFill>
                          <a:latin typeface="Aptos"/>
                        </a:defRPr>
                      </a:pPr>
                      <a:r>
                        <a:t>NIM</a:t>
                      </a:r>
                    </a:p>
                  </a:txBody>
                  <a:tcPr marL="91440" marR="91440">
                    <a:solidFill>
                      <a:srgbClr val="7C3AED"/>
                    </a:solidFill>
                  </a:tcPr>
                </a:tc>
                <a:tc>
                  <a:txBody>
                    <a:bodyPr/>
                    <a:lstStyle/>
                    <a:p>
                      <a:pPr>
                        <a:defRPr sz="2000" b="1">
                          <a:solidFill>
                            <a:srgbClr val="E9EDF5"/>
                          </a:solidFill>
                          <a:latin typeface="Aptos"/>
                        </a:defRPr>
                      </a:pPr>
                      <a:r>
                        <a:t>Tugas aktual</a:t>
                      </a:r>
                    </a:p>
                  </a:txBody>
                  <a:tcPr marL="91440" marR="91440">
                    <a:solidFill>
                      <a:srgbClr val="7C3AED"/>
                    </a:solidFill>
                  </a:tcPr>
                </a:tc>
              </a:tr>
              <a:tr h="754380">
                <a:tc>
                  <a:txBody>
                    <a:bodyPr/>
                    <a:lstStyle/>
                    <a:p>
                      <a:pPr>
                        <a:defRPr sz="2000" b="0">
                          <a:solidFill>
                            <a:srgbClr val="E9EDF5"/>
                          </a:solidFill>
                          <a:latin typeface="Aptos"/>
                        </a:defRPr>
                      </a:pPr>
                      <a:r>
                        <a:t>Muhamad Akhdan Ramadhan</a:t>
                      </a:r>
                    </a:p>
                  </a:txBody>
                  <a:tcPr marL="91440" marR="91440">
                    <a:solidFill>
                      <a:srgbClr val="141B2E"/>
                    </a:solidFill>
                  </a:tcPr>
                </a:tc>
                <a:tc>
                  <a:txBody>
                    <a:bodyPr/>
                    <a:lstStyle/>
                    <a:p>
                      <a:pPr>
                        <a:defRPr sz="2000" b="0">
                          <a:solidFill>
                            <a:srgbClr val="E9EDF5"/>
                          </a:solidFill>
                          <a:latin typeface="Aptos"/>
                        </a:defRPr>
                      </a:pPr>
                      <a:r>
                        <a:t>J0404241102</a:t>
                      </a:r>
                    </a:p>
                  </a:txBody>
                  <a:tcPr marL="91440" marR="91440">
                    <a:solidFill>
                      <a:srgbClr val="141B2E"/>
                    </a:solidFill>
                  </a:tcPr>
                </a:tc>
                <a:tc>
                  <a:txBody>
                    <a:bodyPr/>
                    <a:lstStyle/>
                    <a:p>
                      <a:pPr>
                        <a:defRPr sz="2000" b="0">
                          <a:solidFill>
                            <a:srgbClr val="E9EDF5"/>
                          </a:solidFill>
                          <a:latin typeface="Aptos"/>
                        </a:defRPr>
                      </a:pPr>
                      <a:r>
                        <a:t>[Isi sendiri]</a:t>
                      </a:r>
                    </a:p>
                  </a:txBody>
                  <a:tcPr marL="91440" marR="91440">
                    <a:solidFill>
                      <a:srgbClr val="141B2E"/>
                    </a:solidFill>
                  </a:tcPr>
                </a:tc>
              </a:tr>
              <a:tr h="754380">
                <a:tc>
                  <a:txBody>
                    <a:bodyPr/>
                    <a:lstStyle/>
                    <a:p>
                      <a:pPr>
                        <a:defRPr sz="2000" b="0">
                          <a:solidFill>
                            <a:srgbClr val="E9EDF5"/>
                          </a:solidFill>
                          <a:latin typeface="Aptos"/>
                        </a:defRPr>
                      </a:pPr>
                      <a:r>
                        <a:t>Thevan Erlangga</a:t>
                      </a:r>
                    </a:p>
                  </a:txBody>
                  <a:tcPr marL="91440" marR="91440">
                    <a:solidFill>
                      <a:srgbClr val="141B2E"/>
                    </a:solidFill>
                  </a:tcPr>
                </a:tc>
                <a:tc>
                  <a:txBody>
                    <a:bodyPr/>
                    <a:lstStyle/>
                    <a:p>
                      <a:pPr>
                        <a:defRPr sz="2000" b="0">
                          <a:solidFill>
                            <a:srgbClr val="E9EDF5"/>
                          </a:solidFill>
                          <a:latin typeface="Aptos"/>
                        </a:defRPr>
                      </a:pPr>
                      <a:r>
                        <a:t>J0404241073</a:t>
                      </a:r>
                    </a:p>
                  </a:txBody>
                  <a:tcPr marL="91440" marR="91440">
                    <a:solidFill>
                      <a:srgbClr val="141B2E"/>
                    </a:solidFill>
                  </a:tcPr>
                </a:tc>
                <a:tc>
                  <a:txBody>
                    <a:bodyPr/>
                    <a:lstStyle/>
                    <a:p>
                      <a:pPr>
                        <a:defRPr sz="2000" b="0">
                          <a:solidFill>
                            <a:srgbClr val="E9EDF5"/>
                          </a:solidFill>
                          <a:latin typeface="Aptos"/>
                        </a:defRPr>
                      </a:pPr>
                      <a:r>
                        <a:t>[Isi sendiri]</a:t>
                      </a:r>
                    </a:p>
                  </a:txBody>
                  <a:tcPr marL="91440" marR="91440">
                    <a:solidFill>
                      <a:srgbClr val="141B2E"/>
                    </a:solidFill>
                  </a:tcPr>
                </a:tc>
              </a:tr>
              <a:tr h="754380">
                <a:tc>
                  <a:txBody>
                    <a:bodyPr/>
                    <a:lstStyle/>
                    <a:p>
                      <a:pPr>
                        <a:defRPr sz="2000" b="0">
                          <a:solidFill>
                            <a:srgbClr val="E9EDF5"/>
                          </a:solidFill>
                          <a:latin typeface="Aptos"/>
                        </a:defRPr>
                      </a:pPr>
                      <a:r>
                        <a:t>Fachri Abyasa Tarid</a:t>
                      </a:r>
                    </a:p>
                  </a:txBody>
                  <a:tcPr marL="91440" marR="91440">
                    <a:solidFill>
                      <a:srgbClr val="141B2E"/>
                    </a:solidFill>
                  </a:tcPr>
                </a:tc>
                <a:tc>
                  <a:txBody>
                    <a:bodyPr/>
                    <a:lstStyle/>
                    <a:p>
                      <a:pPr>
                        <a:defRPr sz="2000" b="0">
                          <a:solidFill>
                            <a:srgbClr val="E9EDF5"/>
                          </a:solidFill>
                          <a:latin typeface="Aptos"/>
                        </a:defRPr>
                      </a:pPr>
                      <a:r>
                        <a:t>J0404241136</a:t>
                      </a:r>
                    </a:p>
                  </a:txBody>
                  <a:tcPr marL="91440" marR="91440">
                    <a:solidFill>
                      <a:srgbClr val="141B2E"/>
                    </a:solidFill>
                  </a:tcPr>
                </a:tc>
                <a:tc>
                  <a:txBody>
                    <a:bodyPr/>
                    <a:lstStyle/>
                    <a:p>
                      <a:pPr>
                        <a:defRPr sz="2000" b="0">
                          <a:solidFill>
                            <a:srgbClr val="E9EDF5"/>
                          </a:solidFill>
                          <a:latin typeface="Aptos"/>
                        </a:defRPr>
                      </a:pPr>
                      <a:r>
                        <a:t>[Isi sendiri]</a:t>
                      </a:r>
                    </a:p>
                  </a:txBody>
                  <a:tcPr marL="91440" marR="91440">
                    <a:solidFill>
                      <a:srgbClr val="141B2E"/>
                    </a:solidFill>
                  </a:tcPr>
                </a:tc>
              </a:tr>
            </a:tbl>
          </a:graphicData>
        </a:graphic>
      </p:graphicFrame>
      <p:sp>
        <p:nvSpPr>
          <p:cNvPr id="7" name="TextBox 6"/>
          <p:cNvSpPr txBox="1"/>
          <p:nvPr/>
        </p:nvSpPr>
        <p:spPr>
          <a:xfrm>
            <a:off x="594360" y="5212080"/>
            <a:ext cx="10972800" cy="731520"/>
          </a:xfrm>
          <a:prstGeom prst="rect">
            <a:avLst/>
          </a:prstGeom>
          <a:noFill/>
        </p:spPr>
        <p:txBody>
          <a:bodyPr wrap="square" lIns="18288" rIns="18288" tIns="0" bIns="0">
            <a:spAutoFit/>
          </a:bodyPr>
          <a:lstStyle/>
          <a:p>
            <a:pPr>
              <a:spcAft>
                <a:spcPts val="1000"/>
              </a:spcAft>
              <a:defRPr sz="2000" b="0">
                <a:solidFill>
                  <a:srgbClr val="AAB4C8"/>
                </a:solidFill>
                <a:latin typeface="Aptos"/>
              </a:defRPr>
            </a:pPr>
            <a:r>
              <a:t>Seluruh anggota wajib memahami konsep, dataset, preprocessing, algoritma, evaluasi, dan aplikasi.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Referensi jurnal</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DOI dan teks lengkap tersedia di docs/STUDI_LITERATUR.md</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28</a:t>
            </a:r>
          </a:p>
        </p:txBody>
      </p:sp>
      <p:sp>
        <p:nvSpPr>
          <p:cNvPr id="6" name="TextBox 5"/>
          <p:cNvSpPr txBox="1"/>
          <p:nvPr/>
        </p:nvSpPr>
        <p:spPr>
          <a:xfrm>
            <a:off x="640080" y="1645920"/>
            <a:ext cx="10972800" cy="731520"/>
          </a:xfrm>
          <a:prstGeom prst="rect">
            <a:avLst/>
          </a:prstGeom>
          <a:noFill/>
        </p:spPr>
        <p:txBody>
          <a:bodyPr wrap="square" lIns="18288" rIns="18288" tIns="0" bIns="0">
            <a:spAutoFit/>
          </a:bodyPr>
          <a:lstStyle/>
          <a:p>
            <a:pPr>
              <a:spcAft>
                <a:spcPts val="1000"/>
              </a:spcAft>
              <a:defRPr sz="1800" b="0">
                <a:solidFill>
                  <a:srgbClr val="E9EDF5"/>
                </a:solidFill>
                <a:latin typeface="Aptos"/>
              </a:defRPr>
            </a:pPr>
            <a:r>
              <a:t>[1] Sana et al. (2022) — PLOS ONE</a:t>
            </a:r>
          </a:p>
          <a:p>
            <a:pPr>
              <a:spcAft>
                <a:spcPts val="1000"/>
              </a:spcAft>
              <a:defRPr sz="1800" b="0">
                <a:solidFill>
                  <a:srgbClr val="E9EDF5"/>
                </a:solidFill>
                <a:latin typeface="Aptos"/>
              </a:defRPr>
            </a:pPr>
            <a:r>
              <a:t>10.1371/journal.pone.0278095</a:t>
            </a:r>
          </a:p>
        </p:txBody>
      </p:sp>
      <p:sp>
        <p:nvSpPr>
          <p:cNvPr id="7" name="TextBox 6"/>
          <p:cNvSpPr txBox="1"/>
          <p:nvPr/>
        </p:nvSpPr>
        <p:spPr>
          <a:xfrm>
            <a:off x="640080" y="2468880"/>
            <a:ext cx="10972800" cy="731520"/>
          </a:xfrm>
          <a:prstGeom prst="rect">
            <a:avLst/>
          </a:prstGeom>
          <a:noFill/>
        </p:spPr>
        <p:txBody>
          <a:bodyPr wrap="square" lIns="18288" rIns="18288" tIns="0" bIns="0">
            <a:spAutoFit/>
          </a:bodyPr>
          <a:lstStyle/>
          <a:p>
            <a:pPr>
              <a:spcAft>
                <a:spcPts val="1000"/>
              </a:spcAft>
              <a:defRPr sz="1800" b="0">
                <a:solidFill>
                  <a:srgbClr val="E9EDF5"/>
                </a:solidFill>
                <a:latin typeface="Aptos"/>
              </a:defRPr>
            </a:pPr>
            <a:r>
              <a:t>[2] Y., Ly &amp; Son (2022) — PLOS ONE</a:t>
            </a:r>
          </a:p>
          <a:p>
            <a:pPr>
              <a:spcAft>
                <a:spcPts val="1000"/>
              </a:spcAft>
              <a:defRPr sz="1800" b="0">
                <a:solidFill>
                  <a:srgbClr val="E9EDF5"/>
                </a:solidFill>
                <a:latin typeface="Aptos"/>
              </a:defRPr>
            </a:pPr>
            <a:r>
              <a:t>10.1371/journal.pone.0267935</a:t>
            </a:r>
          </a:p>
        </p:txBody>
      </p:sp>
      <p:sp>
        <p:nvSpPr>
          <p:cNvPr id="8" name="TextBox 7"/>
          <p:cNvSpPr txBox="1"/>
          <p:nvPr/>
        </p:nvSpPr>
        <p:spPr>
          <a:xfrm>
            <a:off x="640080" y="3291840"/>
            <a:ext cx="10972800" cy="731520"/>
          </a:xfrm>
          <a:prstGeom prst="rect">
            <a:avLst/>
          </a:prstGeom>
          <a:noFill/>
        </p:spPr>
        <p:txBody>
          <a:bodyPr wrap="square" lIns="18288" rIns="18288" tIns="0" bIns="0">
            <a:spAutoFit/>
          </a:bodyPr>
          <a:lstStyle/>
          <a:p>
            <a:pPr>
              <a:spcAft>
                <a:spcPts val="1000"/>
              </a:spcAft>
              <a:defRPr sz="1800" b="0">
                <a:solidFill>
                  <a:srgbClr val="E9EDF5"/>
                </a:solidFill>
                <a:latin typeface="Aptos"/>
              </a:defRPr>
            </a:pPr>
            <a:r>
              <a:t>[3] Bilal et al. (2022) — PeerJ Computer Science</a:t>
            </a:r>
          </a:p>
          <a:p>
            <a:pPr>
              <a:spcAft>
                <a:spcPts val="1000"/>
              </a:spcAft>
              <a:defRPr sz="1800" b="0">
                <a:solidFill>
                  <a:srgbClr val="E9EDF5"/>
                </a:solidFill>
                <a:latin typeface="Aptos"/>
              </a:defRPr>
            </a:pPr>
            <a:r>
              <a:t>10.7717/peerj-cs.854</a:t>
            </a:r>
          </a:p>
        </p:txBody>
      </p:sp>
      <p:sp>
        <p:nvSpPr>
          <p:cNvPr id="9" name="TextBox 8"/>
          <p:cNvSpPr txBox="1"/>
          <p:nvPr/>
        </p:nvSpPr>
        <p:spPr>
          <a:xfrm>
            <a:off x="640080" y="4114800"/>
            <a:ext cx="10972800" cy="731520"/>
          </a:xfrm>
          <a:prstGeom prst="rect">
            <a:avLst/>
          </a:prstGeom>
          <a:noFill/>
        </p:spPr>
        <p:txBody>
          <a:bodyPr wrap="square" lIns="18288" rIns="18288" tIns="0" bIns="0">
            <a:spAutoFit/>
          </a:bodyPr>
          <a:lstStyle/>
          <a:p>
            <a:pPr>
              <a:spcAft>
                <a:spcPts val="1000"/>
              </a:spcAft>
              <a:defRPr sz="1800" b="0">
                <a:solidFill>
                  <a:srgbClr val="E9EDF5"/>
                </a:solidFill>
                <a:latin typeface="Aptos"/>
              </a:defRPr>
            </a:pPr>
            <a:r>
              <a:t>[4] Zhou et al. (2023) — PLOS ONE</a:t>
            </a:r>
          </a:p>
          <a:p>
            <a:pPr>
              <a:spcAft>
                <a:spcPts val="1000"/>
              </a:spcAft>
              <a:defRPr sz="1800" b="0">
                <a:solidFill>
                  <a:srgbClr val="E9EDF5"/>
                </a:solidFill>
                <a:latin typeface="Aptos"/>
              </a:defRPr>
            </a:pPr>
            <a:r>
              <a:t>10.1371/journal.pone.0292466</a:t>
            </a:r>
          </a:p>
        </p:txBody>
      </p:sp>
      <p:sp>
        <p:nvSpPr>
          <p:cNvPr id="10" name="TextBox 9"/>
          <p:cNvSpPr txBox="1"/>
          <p:nvPr/>
        </p:nvSpPr>
        <p:spPr>
          <a:xfrm>
            <a:off x="640080" y="4937760"/>
            <a:ext cx="10972800" cy="731520"/>
          </a:xfrm>
          <a:prstGeom prst="rect">
            <a:avLst/>
          </a:prstGeom>
          <a:noFill/>
        </p:spPr>
        <p:txBody>
          <a:bodyPr wrap="square" lIns="18288" rIns="18288" tIns="0" bIns="0">
            <a:spAutoFit/>
          </a:bodyPr>
          <a:lstStyle/>
          <a:p>
            <a:pPr>
              <a:spcAft>
                <a:spcPts val="1000"/>
              </a:spcAft>
              <a:defRPr sz="1800" b="0">
                <a:solidFill>
                  <a:srgbClr val="E9EDF5"/>
                </a:solidFill>
                <a:latin typeface="Aptos"/>
              </a:defRPr>
            </a:pPr>
            <a:r>
              <a:t>[5] Khattak et al. (2023) — Scientific Reports</a:t>
            </a:r>
          </a:p>
          <a:p>
            <a:pPr>
              <a:spcAft>
                <a:spcPts val="1000"/>
              </a:spcAft>
              <a:defRPr sz="1800" b="0">
                <a:solidFill>
                  <a:srgbClr val="E9EDF5"/>
                </a:solidFill>
                <a:latin typeface="Aptos"/>
              </a:defRPr>
            </a:pPr>
            <a:r>
              <a:t>10.1038/s41598-023-44396-w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84048"/>
            <a:ext cx="11155680" cy="594360"/>
          </a:xfrm>
          <a:prstGeom prst="rect">
            <a:avLst/>
          </a:prstGeom>
          <a:noFill/>
        </p:spPr>
        <p:txBody>
          <a:bodyPr wrap="square" lIns="18288" rIns="18288" tIns="0" bIns="0">
            <a:spAutoFit/>
          </a:bodyPr>
          <a:lstStyle/>
          <a:p>
            <a:pPr>
              <a:spcAft>
                <a:spcPts val="1000"/>
              </a:spcAft>
              <a:defRPr sz="2900" b="1">
                <a:solidFill>
                  <a:srgbClr val="E9EDF5"/>
                </a:solidFill>
                <a:latin typeface="Aptos"/>
              </a:defRPr>
            </a:pPr>
            <a:r>
              <a:t>Source code &amp; berkas pengumpulan</a:t>
            </a:r>
          </a:p>
        </p:txBody>
      </p:sp>
      <p:sp>
        <p:nvSpPr>
          <p:cNvPr id="4" name="TextBox 3"/>
          <p:cNvSpPr txBox="1"/>
          <p:nvPr/>
        </p:nvSpPr>
        <p:spPr>
          <a:xfrm>
            <a:off x="530352" y="1033271"/>
            <a:ext cx="11064240" cy="457200"/>
          </a:xfrm>
          <a:prstGeom prst="rect">
            <a:avLst/>
          </a:prstGeom>
          <a:noFill/>
        </p:spPr>
        <p:txBody>
          <a:bodyPr wrap="square" lIns="18288" rIns="18288" tIns="0" bIns="0">
            <a:spAutoFit/>
          </a:bodyPr>
          <a:lstStyle/>
          <a:p>
            <a:pPr>
              <a:spcAft>
                <a:spcPts val="1000"/>
              </a:spcAft>
              <a:defRPr sz="1400" b="0">
                <a:solidFill>
                  <a:srgbClr val="AAB4C8"/>
                </a:solidFill>
                <a:latin typeface="Aptos"/>
              </a:defRPr>
            </a:pPr>
            <a:r>
              <a:t>Format folder: ML2026_B2_Kelompok12_PrediksiCustomerChurn</a:t>
            </a:r>
          </a:p>
        </p:txBody>
      </p:sp>
      <p:sp>
        <p:nvSpPr>
          <p:cNvPr id="5" name="TextBox 4"/>
          <p:cNvSpPr txBox="1"/>
          <p:nvPr/>
        </p:nvSpPr>
        <p:spPr>
          <a:xfrm>
            <a:off x="548640" y="6483096"/>
            <a:ext cx="11064240" cy="256032"/>
          </a:xfrm>
          <a:prstGeom prst="rect">
            <a:avLst/>
          </a:prstGeom>
          <a:noFill/>
        </p:spPr>
        <p:txBody>
          <a:bodyPr wrap="square" lIns="18288" rIns="18288" tIns="0" bIns="0">
            <a:spAutoFit/>
          </a:bodyPr>
          <a:lstStyle/>
          <a:p>
            <a:pPr>
              <a:spcAft>
                <a:spcPts val="1000"/>
              </a:spcAft>
              <a:defRPr sz="1100" b="0">
                <a:solidFill>
                  <a:srgbClr val="AAB4C8"/>
                </a:solidFill>
                <a:latin typeface="Aptos"/>
              </a:defRPr>
            </a:pPr>
            <a:r>
              <a:t>ML 2026  •  B2  •  Kelompok 12                                      29</a:t>
            </a:r>
          </a:p>
        </p:txBody>
      </p:sp>
      <p:sp>
        <p:nvSpPr>
          <p:cNvPr id="6" name="TextBox 5"/>
          <p:cNvSpPr txBox="1"/>
          <p:nvPr/>
        </p:nvSpPr>
        <p:spPr>
          <a:xfrm>
            <a:off x="594360" y="1691640"/>
            <a:ext cx="10972800" cy="4389120"/>
          </a:xfrm>
          <a:prstGeom prst="rect">
            <a:avLst/>
          </a:prstGeom>
          <a:noFill/>
        </p:spPr>
        <p:txBody>
          <a:bodyPr wrap="square" lIns="18288" rIns="18288" tIns="0" bIns="0">
            <a:spAutoFit/>
          </a:bodyPr>
          <a:lstStyle/>
          <a:p>
            <a:pPr>
              <a:spcAft>
                <a:spcPts val="1000"/>
              </a:spcAft>
              <a:defRPr sz="2100" b="0">
                <a:solidFill>
                  <a:srgbClr val="E9EDF5"/>
                </a:solidFill>
                <a:latin typeface="Aptos"/>
              </a:defRPr>
            </a:pPr>
            <a:r>
              <a:t>• PPT: docs/ML2026_B2_Kelompok12_PrediksiCustomerChurn.pptx</a:t>
            </a:r>
          </a:p>
          <a:p>
            <a:pPr>
              <a:spcAft>
                <a:spcPts val="1000"/>
              </a:spcAft>
              <a:defRPr sz="2100" b="0">
                <a:solidFill>
                  <a:srgbClr val="E9EDF5"/>
                </a:solidFill>
                <a:latin typeface="Aptos"/>
              </a:defRPr>
            </a:pPr>
            <a:r>
              <a:t>• Laporan EDA: folder docs • notebook: projekk.ipynb</a:t>
            </a:r>
          </a:p>
          <a:p>
            <a:pPr>
              <a:spcAft>
                <a:spcPts val="1000"/>
              </a:spcAft>
              <a:defRPr sz="2100" b="0">
                <a:solidFill>
                  <a:srgbClr val="E9EDF5"/>
                </a:solidFill>
                <a:latin typeface="Aptos"/>
              </a:defRPr>
            </a:pPr>
            <a:r>
              <a:t>• Lima jurnal &amp; tabel: docs/STUDI_LITERATUR.md • docs/jurnal/</a:t>
            </a:r>
          </a:p>
          <a:p>
            <a:pPr>
              <a:spcAft>
                <a:spcPts val="1000"/>
              </a:spcAft>
              <a:defRPr sz="2100" b="0">
                <a:solidFill>
                  <a:srgbClr val="E9EDF5"/>
                </a:solidFill>
                <a:latin typeface="Aptos"/>
              </a:defRPr>
            </a:pPr>
            <a:r>
              <a:t>• Video demo: maksimal 7 menit, aplikasi dijalankan langsung.</a:t>
            </a:r>
          </a:p>
          <a:p>
            <a:pPr>
              <a:spcAft>
                <a:spcPts val="1000"/>
              </a:spcAft>
              <a:defRPr sz="2100" b="0">
                <a:solidFill>
                  <a:srgbClr val="E9EDF5"/>
                </a:solidFill>
                <a:latin typeface="Aptos"/>
              </a:defRPr>
            </a:pPr>
            <a:r>
              <a:t>• Pembagian tugas: isi pada slide 27; video asli direkam anggota.</a:t>
            </a:r>
          </a:p>
        </p:txBody>
      </p:sp>
      <p:sp>
        <p:nvSpPr>
          <p:cNvPr id="7" name="TextBox 6"/>
          <p:cNvSpPr txBox="1"/>
          <p:nvPr/>
        </p:nvSpPr>
        <p:spPr>
          <a:xfrm>
            <a:off x="594360" y="5623560"/>
            <a:ext cx="10972800" cy="640080"/>
          </a:xfrm>
          <a:prstGeom prst="rect">
            <a:avLst/>
          </a:prstGeom>
          <a:noFill/>
        </p:spPr>
        <p:txBody>
          <a:bodyPr wrap="square" lIns="18288" rIns="18288" tIns="0" bIns="0">
            <a:spAutoFit/>
          </a:bodyPr>
          <a:lstStyle/>
          <a:p>
            <a:pPr>
              <a:spcAft>
                <a:spcPts val="1000"/>
              </a:spcAft>
              <a:defRPr sz="1300" b="0">
                <a:solidFill>
                  <a:srgbClr val="60A5FA"/>
                </a:solidFill>
                <a:latin typeface="Aptos"/>
              </a:defRPr>
            </a:pPr>
            <a:r>
              <a:t>Repository: https://github.com/makhdanramadhan-ui/Machine-Learning-Project</a:t>
            </a:r>
          </a:p>
          <a:p>
            <a:pPr>
              <a:spcAft>
                <a:spcPts val="1000"/>
              </a:spcAft>
              <a:defRPr sz="1300" b="0">
                <a:solidFill>
                  <a:srgbClr val="60A5FA"/>
                </a:solidFill>
                <a:latin typeface="Aptos"/>
              </a:defRPr>
            </a:pPr>
            <a:r>
              <a:t>https://machine-learning-project-u8yovshrqrc5tm5s2y2qto.streamlit.app/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Prediksi Customer Churn — Telco</dc:title>
  <dc:subject/>
  <dc:creator>Kelompok 12 — Kelas B2</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